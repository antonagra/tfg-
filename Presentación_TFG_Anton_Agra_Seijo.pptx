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3.svg" ContentType="image/svg"/>
  <Override PartName="/ppt/media/image8.svg" ContentType="image/svg"/>
  <Override PartName="/ppt/media/image17.svg" ContentType="image/svg"/>
  <Override PartName="/ppt/media/image15.svg" ContentType="image/svg"/>
  <Override PartName="/ppt/media/image20.svg" ContentType="image/svg"/>
  <Override PartName="/ppt/media/image23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Roboto Mono Medium"/>
    </p:embeddedFont>
    <p:embeddedFont>
      <p:font typeface="Roboto"/>
      <p:regular r:id="rId15"/>
      <p:bold r:id="rId15"/>
    </p:embeddedFont>
    <p:embeddedFont>
      <p:font typeface="Roboto Bold"/>
    </p:embeddedFont>
    <p:embeddedFont>
      <p:font typeface="Roboto Bold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font" Target="fonts/Font_1_Roboto_Regular.fntdata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A38385-3E18-4EF6-B06F-D451EE9266DF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dt" idx="61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5"/>
          <p:cNvSpPr>
            <a:spLocks noGrp="1"/>
          </p:cNvSpPr>
          <p:nvPr>
            <p:ph type="ftr" idx="62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PlaceHolder 6"/>
          <p:cNvSpPr>
            <a:spLocks noGrp="1"/>
          </p:cNvSpPr>
          <p:nvPr>
            <p:ph type="sldNum" idx="63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dt" idx="64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 type="ftr" idx="65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PlaceHolder 6"/>
          <p:cNvSpPr>
            <a:spLocks noGrp="1"/>
          </p:cNvSpPr>
          <p:nvPr>
            <p:ph type="sldNum" idx="66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dt" idx="67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ftr" idx="68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6"/>
          <p:cNvSpPr>
            <a:spLocks noGrp="1"/>
          </p:cNvSpPr>
          <p:nvPr>
            <p:ph type="sldNum" idx="69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411FBD-227C-4D57-A7F2-2DA4D197EC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CFA599-8088-423D-9B33-3635D7C1D5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EFC844-7DE0-4838-A13C-0820EE531F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D4AFC9-A858-4A61-A262-7D1DF729CC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A4EDC0-81B2-46EB-86CA-C1B0BB26F0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822D29-E969-4279-BEA2-92B40BD014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DEAA7C-6720-4256-B342-C0244CEAC6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C11193-91C9-400B-BD85-821ACE7891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11A197-3612-4E19-9E6F-DB361DE4C5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E5E155-017F-4FE6-AE73-CAF4A94F93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1997EE-14A2-4901-AAD0-35918CDCD0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68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70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6"/>
          <p:cNvGrpSpPr/>
          <p:nvPr/>
        </p:nvGrpSpPr>
        <p:grpSpPr>
          <a:xfrm>
            <a:off x="16058520" y="9689040"/>
            <a:ext cx="2143080" cy="511200"/>
            <a:chOff x="16058520" y="9689040"/>
            <a:chExt cx="2143080" cy="511200"/>
          </a:xfrm>
        </p:grpSpPr>
        <p:sp>
          <p:nvSpPr>
            <p:cNvPr id="72" name="Freeform 7" descr="preencoded.png">
              <a:hlinkClick r:id="rId1"/>
            </p:cNvPr>
            <p:cNvSpPr/>
            <p:nvPr/>
          </p:nvSpPr>
          <p:spPr>
            <a:xfrm>
              <a:off x="16058520" y="9689040"/>
              <a:ext cx="2143080" cy="511200"/>
            </a:xfrm>
            <a:custGeom>
              <a:avLst/>
              <a:gdLst>
                <a:gd name="textAreaLeft" fmla="*/ 0 w 2143080"/>
                <a:gd name="textAreaRight" fmla="*/ 2143800 w 2143080"/>
                <a:gd name="textAreaTop" fmla="*/ 0 h 511200"/>
                <a:gd name="textAreaBottom" fmla="*/ 511920 h 511200"/>
              </a:gdLst>
              <a:ahLst/>
              <a:cxnLst/>
              <a:rect l="textAreaLeft" t="textAreaTop" r="textAreaRight" b="textAreaBottom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Group 8"/>
          <p:cNvGrpSpPr/>
          <p:nvPr/>
        </p:nvGrpSpPr>
        <p:grpSpPr>
          <a:xfrm>
            <a:off x="11430000" y="0"/>
            <a:ext cx="6857280" cy="10286280"/>
            <a:chOff x="11430000" y="0"/>
            <a:chExt cx="6857280" cy="10286280"/>
          </a:xfrm>
        </p:grpSpPr>
        <p:sp>
          <p:nvSpPr>
            <p:cNvPr id="74" name="Freeform 9"/>
            <p:cNvSpPr/>
            <p:nvPr/>
          </p:nvSpPr>
          <p:spPr>
            <a:xfrm>
              <a:off x="11430000" y="0"/>
              <a:ext cx="6857280" cy="10286280"/>
            </a:xfrm>
            <a:custGeom>
              <a:avLst/>
              <a:gdLst>
                <a:gd name="textAreaLeft" fmla="*/ 0 w 6857280"/>
                <a:gd name="textAreaRight" fmla="*/ 6858000 w 685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" name="Group 10"/>
          <p:cNvGrpSpPr/>
          <p:nvPr/>
        </p:nvGrpSpPr>
        <p:grpSpPr>
          <a:xfrm>
            <a:off x="12420720" y="2705040"/>
            <a:ext cx="4876200" cy="4876200"/>
            <a:chOff x="12420720" y="2705040"/>
            <a:chExt cx="4876200" cy="4876200"/>
          </a:xfrm>
        </p:grpSpPr>
        <p:sp>
          <p:nvSpPr>
            <p:cNvPr id="76" name="Freeform 11" descr="preencoded.png"/>
            <p:cNvSpPr/>
            <p:nvPr/>
          </p:nvSpPr>
          <p:spPr>
            <a:xfrm>
              <a:off x="12420720" y="2705040"/>
              <a:ext cx="4876200" cy="4876200"/>
            </a:xfrm>
            <a:custGeom>
              <a:avLst/>
              <a:gdLst>
                <a:gd name="textAreaLeft" fmla="*/ 0 w 4876200"/>
                <a:gd name="textAreaRight" fmla="*/ 4876920 w 4876200"/>
                <a:gd name="textAreaTop" fmla="*/ 0 h 4876200"/>
                <a:gd name="textAreaBottom" fmla="*/ 4876920 h 4876200"/>
              </a:gdLst>
              <a:ahLst/>
              <a:cxnLst/>
              <a:rect l="textAreaLeft" t="textAreaTop" r="textAreaRight" b="textAreaBottom"/>
              <a:pathLst>
                <a:path w="6502400" h="6502400">
                  <a:moveTo>
                    <a:pt x="0" y="0"/>
                  </a:moveTo>
                  <a:lnTo>
                    <a:pt x="6502400" y="0"/>
                  </a:lnTo>
                  <a:lnTo>
                    <a:pt x="6502400" y="6502400"/>
                  </a:lnTo>
                  <a:lnTo>
                    <a:pt x="0" y="6502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12"/>
          <p:cNvSpPr/>
          <p:nvPr/>
        </p:nvSpPr>
        <p:spPr>
          <a:xfrm>
            <a:off x="992160" y="2960280"/>
            <a:ext cx="9444960" cy="26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863"/>
              </a:lnSpc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Implementación de Infraestructura    Segura y Nube Híbrida </a:t>
            </a:r>
            <a:endParaRPr lang="es-ES" sz="5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992160" y="5976720"/>
            <a:ext cx="9444960" cy="13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Trabajo de Fin de Ciclo ·</a:t>
            </a:r>
            <a:r>
              <a:rPr lang="en-US" sz="2200" b="1" i="1" u="none" strike="noStrike">
                <a:solidFill>
                  <a:srgbClr val="E5E0DF"/>
                </a:solidFill>
                <a:effectLst/>
                <a:uFillTx/>
                <a:latin typeface="Roboto Bold Italics"/>
                <a:ea typeface="Roboto Bold Italics"/>
              </a:rPr>
              <a:t> </a:t>
            </a: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Bold"/>
                <a:ea typeface="Roboto Bold"/>
              </a:rPr>
              <a:t>ASIR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12"/>
              </a:lnSpc>
            </a:pP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Bold"/>
                <a:ea typeface="Roboto Bold"/>
              </a:rPr>
              <a:t>Antón Agra Seijo</a:t>
            </a: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 · </a:t>
            </a:r>
            <a:r>
              <a:rPr lang="en-US" sz="2200" b="0" u="none" strike="noStrike">
                <a:solidFill>
                  <a:srgbClr val="5CC97B"/>
                </a:solidFill>
                <a:effectLst/>
                <a:uFillTx/>
                <a:latin typeface="Roboto"/>
                <a:ea typeface="Roboto"/>
              </a:rPr>
              <a:t>Liceo La Paz</a:t>
            </a: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 ·</a:t>
            </a:r>
            <a:r>
              <a:rPr lang="en-US" sz="2200" b="0" u="none" strike="noStrike">
                <a:solidFill>
                  <a:srgbClr val="F44444"/>
                </a:solidFill>
                <a:effectLst/>
                <a:uFillTx/>
                <a:latin typeface="Roboto"/>
                <a:ea typeface="Roboto"/>
              </a:rPr>
              <a:t> 2026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80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82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" name="Group 6"/>
          <p:cNvGrpSpPr/>
          <p:nvPr/>
        </p:nvGrpSpPr>
        <p:grpSpPr>
          <a:xfrm>
            <a:off x="0" y="0"/>
            <a:ext cx="6857280" cy="10286280"/>
            <a:chOff x="0" y="0"/>
            <a:chExt cx="6857280" cy="10286280"/>
          </a:xfrm>
        </p:grpSpPr>
        <p:sp>
          <p:nvSpPr>
            <p:cNvPr id="84" name="Freeform 7" descr="preencoded.png"/>
            <p:cNvSpPr/>
            <p:nvPr/>
          </p:nvSpPr>
          <p:spPr>
            <a:xfrm>
              <a:off x="0" y="0"/>
              <a:ext cx="6857280" cy="10286280"/>
            </a:xfrm>
            <a:custGeom>
              <a:avLst/>
              <a:gdLst>
                <a:gd name="textAreaLeft" fmla="*/ 0 w 6857280"/>
                <a:gd name="textAreaRight" fmla="*/ 6858000 w 685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" name="Group 8"/>
          <p:cNvGrpSpPr/>
          <p:nvPr/>
        </p:nvGrpSpPr>
        <p:grpSpPr>
          <a:xfrm>
            <a:off x="120240" y="1834920"/>
            <a:ext cx="6616440" cy="6616440"/>
            <a:chOff x="120240" y="1834920"/>
            <a:chExt cx="6616440" cy="6616440"/>
          </a:xfrm>
        </p:grpSpPr>
        <p:sp>
          <p:nvSpPr>
            <p:cNvPr id="86" name="Freeform 9" descr="preencoded.png"/>
            <p:cNvSpPr/>
            <p:nvPr/>
          </p:nvSpPr>
          <p:spPr>
            <a:xfrm>
              <a:off x="120240" y="1834920"/>
              <a:ext cx="6616440" cy="6616440"/>
            </a:xfrm>
            <a:custGeom>
              <a:avLst/>
              <a:gdLst>
                <a:gd name="textAreaLeft" fmla="*/ 0 w 6616440"/>
                <a:gd name="textAreaRight" fmla="*/ 6617160 w 6616440"/>
                <a:gd name="textAreaTop" fmla="*/ 0 h 6616440"/>
                <a:gd name="textAreaBottom" fmla="*/ 6617160 h 6616440"/>
              </a:gdLst>
              <a:ahLst/>
              <a:cxnLst/>
              <a:rect l="textAreaLeft" t="textAreaTop" r="textAreaRight" b="textAreaBottom"/>
              <a:pathLst>
                <a:path w="8822944" h="8822944">
                  <a:moveTo>
                    <a:pt x="0" y="0"/>
                  </a:moveTo>
                  <a:lnTo>
                    <a:pt x="8822944" y="0"/>
                  </a:lnTo>
                  <a:lnTo>
                    <a:pt x="8822944" y="8822944"/>
                  </a:lnTo>
                  <a:lnTo>
                    <a:pt x="0" y="88229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Group 10"/>
          <p:cNvGrpSpPr/>
          <p:nvPr/>
        </p:nvGrpSpPr>
        <p:grpSpPr>
          <a:xfrm>
            <a:off x="7850160" y="998280"/>
            <a:ext cx="1551600" cy="428760"/>
            <a:chOff x="7850160" y="998280"/>
            <a:chExt cx="1551600" cy="428760"/>
          </a:xfrm>
        </p:grpSpPr>
        <p:sp>
          <p:nvSpPr>
            <p:cNvPr id="88" name="Freeform 11"/>
            <p:cNvSpPr/>
            <p:nvPr/>
          </p:nvSpPr>
          <p:spPr>
            <a:xfrm>
              <a:off x="7850160" y="998280"/>
              <a:ext cx="1551600" cy="428760"/>
            </a:xfrm>
            <a:custGeom>
              <a:avLst/>
              <a:gdLst>
                <a:gd name="textAreaLeft" fmla="*/ 0 w 1551600"/>
                <a:gd name="textAreaRight" fmla="*/ 1552320 w 1551600"/>
                <a:gd name="textAreaTop" fmla="*/ 0 h 428760"/>
                <a:gd name="textAreaBottom" fmla="*/ 429480 h 428760"/>
              </a:gdLst>
              <a:ahLst/>
              <a:cxnLst/>
              <a:rect l="textAreaLeft" t="textAreaTop" r="textAreaRight" b="textAreaBottom"/>
              <a:pathLst>
                <a:path w="2069846" h="572770">
                  <a:moveTo>
                    <a:pt x="0" y="38608"/>
                  </a:moveTo>
                  <a:cubicBezTo>
                    <a:pt x="0" y="17272"/>
                    <a:pt x="17272" y="0"/>
                    <a:pt x="38608" y="0"/>
                  </a:cubicBezTo>
                  <a:lnTo>
                    <a:pt x="2031238" y="0"/>
                  </a:lnTo>
                  <a:cubicBezTo>
                    <a:pt x="2052574" y="0"/>
                    <a:pt x="2069846" y="17272"/>
                    <a:pt x="2069846" y="38608"/>
                  </a:cubicBezTo>
                  <a:lnTo>
                    <a:pt x="2069846" y="534162"/>
                  </a:lnTo>
                  <a:cubicBezTo>
                    <a:pt x="2069846" y="555498"/>
                    <a:pt x="2052574" y="572770"/>
                    <a:pt x="2031238" y="572770"/>
                  </a:cubicBezTo>
                  <a:lnTo>
                    <a:pt x="38608" y="572770"/>
                  </a:lnTo>
                  <a:cubicBezTo>
                    <a:pt x="17272" y="572643"/>
                    <a:pt x="0" y="555371"/>
                    <a:pt x="0" y="534162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2"/>
          <p:cNvSpPr/>
          <p:nvPr/>
        </p:nvSpPr>
        <p:spPr>
          <a:xfrm>
            <a:off x="7994880" y="1013400"/>
            <a:ext cx="21769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214"/>
              </a:lnSpc>
            </a:pPr>
            <a:r>
              <a:rPr lang="en-US" sz="15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EL PROBLEMA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7850160" y="1490760"/>
            <a:ext cx="9444960" cy="15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865"/>
              </a:lnSpc>
            </a:pPr>
            <a:r>
              <a:rPr lang="en-US" sz="47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El Reto de las PYMEs Actuales</a:t>
            </a:r>
            <a:endParaRPr lang="es-ES" sz="4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roup 14"/>
          <p:cNvGrpSpPr/>
          <p:nvPr/>
        </p:nvGrpSpPr>
        <p:grpSpPr>
          <a:xfrm>
            <a:off x="7850160" y="3323160"/>
            <a:ext cx="9444960" cy="1337040"/>
            <a:chOff x="7850160" y="3323160"/>
            <a:chExt cx="9444960" cy="1337040"/>
          </a:xfrm>
        </p:grpSpPr>
        <p:sp>
          <p:nvSpPr>
            <p:cNvPr id="92" name="Freeform 15"/>
            <p:cNvSpPr/>
            <p:nvPr/>
          </p:nvSpPr>
          <p:spPr>
            <a:xfrm>
              <a:off x="7850160" y="3323160"/>
              <a:ext cx="9444960" cy="1337040"/>
            </a:xfrm>
            <a:custGeom>
              <a:avLst/>
              <a:gdLst>
                <a:gd name="textAreaLeft" fmla="*/ 0 w 9444960"/>
                <a:gd name="textAreaRight" fmla="*/ 9445680 w 9444960"/>
                <a:gd name="textAreaTop" fmla="*/ 0 h 1337040"/>
                <a:gd name="textAreaBottom" fmla="*/ 1337760 h 1337040"/>
              </a:gdLst>
              <a:ahLst/>
              <a:cxnLst/>
              <a:rect l="textAreaLeft" t="textAreaTop" r="textAreaRight" b="textAreaBottom"/>
              <a:pathLst>
                <a:path w="12594082" h="178384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TextBox 16"/>
          <p:cNvSpPr/>
          <p:nvPr/>
        </p:nvSpPr>
        <p:spPr>
          <a:xfrm>
            <a:off x="8091360" y="3564000"/>
            <a:ext cx="301176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69"/>
              </a:lnSpc>
            </a:pPr>
            <a:r>
              <a:rPr lang="en-US" sz="23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Dependencia SaaS</a:t>
            </a:r>
            <a:endParaRPr lang="es-E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7"/>
          <p:cNvSpPr/>
          <p:nvPr/>
        </p:nvSpPr>
        <p:spPr>
          <a:xfrm>
            <a:off x="8091360" y="4006080"/>
            <a:ext cx="896292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656"/>
              </a:lnSpc>
            </a:pPr>
            <a:r>
              <a:rPr lang="en-US" sz="18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Google Workspace y Microsoft 365 generan dependencia total de terceros.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5" name="Group 18"/>
          <p:cNvGrpSpPr/>
          <p:nvPr/>
        </p:nvGrpSpPr>
        <p:grpSpPr>
          <a:xfrm>
            <a:off x="7850160" y="4865760"/>
            <a:ext cx="9444960" cy="1337040"/>
            <a:chOff x="7850160" y="4865760"/>
            <a:chExt cx="9444960" cy="1337040"/>
          </a:xfrm>
        </p:grpSpPr>
        <p:sp>
          <p:nvSpPr>
            <p:cNvPr id="96" name="Freeform 19"/>
            <p:cNvSpPr/>
            <p:nvPr/>
          </p:nvSpPr>
          <p:spPr>
            <a:xfrm>
              <a:off x="7850160" y="4865760"/>
              <a:ext cx="9444960" cy="1337040"/>
            </a:xfrm>
            <a:custGeom>
              <a:avLst/>
              <a:gdLst>
                <a:gd name="textAreaLeft" fmla="*/ 0 w 9444960"/>
                <a:gd name="textAreaRight" fmla="*/ 9445680 w 9444960"/>
                <a:gd name="textAreaTop" fmla="*/ 0 h 1337040"/>
                <a:gd name="textAreaBottom" fmla="*/ 1337760 h 1337040"/>
              </a:gdLst>
              <a:ahLst/>
              <a:cxnLst/>
              <a:rect l="textAreaLeft" t="textAreaTop" r="textAreaRight" b="textAreaBottom"/>
              <a:pathLst>
                <a:path w="12594082" h="178384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TextBox 20"/>
          <p:cNvSpPr/>
          <p:nvPr/>
        </p:nvSpPr>
        <p:spPr>
          <a:xfrm>
            <a:off x="8091360" y="5106600"/>
            <a:ext cx="32515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69"/>
              </a:lnSpc>
            </a:pPr>
            <a:r>
              <a:rPr lang="en-US" sz="23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Costes Recurrentes</a:t>
            </a:r>
            <a:endParaRPr lang="es-E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8091360" y="5548680"/>
            <a:ext cx="896292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656"/>
              </a:lnSpc>
            </a:pPr>
            <a:r>
              <a:rPr lang="en-US" sz="18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Suscripciones mensuales elevadas que escalan con el crecimiento.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oup 22"/>
          <p:cNvGrpSpPr/>
          <p:nvPr/>
        </p:nvGrpSpPr>
        <p:grpSpPr>
          <a:xfrm>
            <a:off x="7850160" y="6408360"/>
            <a:ext cx="9444960" cy="1337040"/>
            <a:chOff x="7850160" y="6408360"/>
            <a:chExt cx="9444960" cy="1337040"/>
          </a:xfrm>
        </p:grpSpPr>
        <p:sp>
          <p:nvSpPr>
            <p:cNvPr id="100" name="Freeform 23"/>
            <p:cNvSpPr/>
            <p:nvPr/>
          </p:nvSpPr>
          <p:spPr>
            <a:xfrm>
              <a:off x="7850160" y="6408360"/>
              <a:ext cx="9444960" cy="1337040"/>
            </a:xfrm>
            <a:custGeom>
              <a:avLst/>
              <a:gdLst>
                <a:gd name="textAreaLeft" fmla="*/ 0 w 9444960"/>
                <a:gd name="textAreaRight" fmla="*/ 9445680 w 9444960"/>
                <a:gd name="textAreaTop" fmla="*/ 0 h 1337040"/>
                <a:gd name="textAreaBottom" fmla="*/ 1337760 h 1337040"/>
              </a:gdLst>
              <a:ahLst/>
              <a:cxnLst/>
              <a:rect l="textAreaLeft" t="textAreaTop" r="textAreaRight" b="textAreaBottom"/>
              <a:pathLst>
                <a:path w="12594082" h="178384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TextBox 24"/>
          <p:cNvSpPr/>
          <p:nvPr/>
        </p:nvSpPr>
        <p:spPr>
          <a:xfrm>
            <a:off x="8091360" y="6649200"/>
            <a:ext cx="32515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69"/>
              </a:lnSpc>
            </a:pPr>
            <a:r>
              <a:rPr lang="en-US" sz="23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Pérdida de Control</a:t>
            </a:r>
            <a:endParaRPr lang="es-E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5"/>
          <p:cNvSpPr/>
          <p:nvPr/>
        </p:nvSpPr>
        <p:spPr>
          <a:xfrm>
            <a:off x="8091360" y="7091280"/>
            <a:ext cx="896292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656"/>
              </a:lnSpc>
            </a:pPr>
            <a:r>
              <a:rPr lang="en-US" sz="18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Los datos corporativos residen fuera de la empresa.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roup 26"/>
          <p:cNvGrpSpPr/>
          <p:nvPr/>
        </p:nvGrpSpPr>
        <p:grpSpPr>
          <a:xfrm>
            <a:off x="7850160" y="7950960"/>
            <a:ext cx="9444960" cy="1337040"/>
            <a:chOff x="7850160" y="7950960"/>
            <a:chExt cx="9444960" cy="1337040"/>
          </a:xfrm>
        </p:grpSpPr>
        <p:sp>
          <p:nvSpPr>
            <p:cNvPr id="104" name="Freeform 27"/>
            <p:cNvSpPr/>
            <p:nvPr/>
          </p:nvSpPr>
          <p:spPr>
            <a:xfrm>
              <a:off x="7850160" y="7950960"/>
              <a:ext cx="9444960" cy="1337040"/>
            </a:xfrm>
            <a:custGeom>
              <a:avLst/>
              <a:gdLst>
                <a:gd name="textAreaLeft" fmla="*/ 0 w 9444960"/>
                <a:gd name="textAreaRight" fmla="*/ 9445680 w 9444960"/>
                <a:gd name="textAreaTop" fmla="*/ 0 h 1337040"/>
                <a:gd name="textAreaBottom" fmla="*/ 1337760 h 1337040"/>
              </a:gdLst>
              <a:ahLst/>
              <a:cxnLst/>
              <a:rect l="textAreaLeft" t="textAreaTop" r="textAreaRight" b="textAreaBottom"/>
              <a:pathLst>
                <a:path w="12594082" h="178384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" name="TextBox 28"/>
          <p:cNvSpPr/>
          <p:nvPr/>
        </p:nvSpPr>
        <p:spPr>
          <a:xfrm>
            <a:off x="8091360" y="8191800"/>
            <a:ext cx="301176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69"/>
              </a:lnSpc>
            </a:pPr>
            <a:r>
              <a:rPr lang="en-US" sz="23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Gestión Insegura</a:t>
            </a:r>
            <a:endParaRPr lang="es-E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9"/>
          <p:cNvSpPr/>
          <p:nvPr/>
        </p:nvSpPr>
        <p:spPr>
          <a:xfrm>
            <a:off x="8091360" y="8633880"/>
            <a:ext cx="896292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656"/>
              </a:lnSpc>
            </a:pPr>
            <a:r>
              <a:rPr lang="en-US" sz="18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Contraseñas compartidas sin control ni auditoría entre empleados.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08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10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" name="Group 6"/>
          <p:cNvGrpSpPr/>
          <p:nvPr/>
        </p:nvGrpSpPr>
        <p:grpSpPr>
          <a:xfrm>
            <a:off x="992160" y="2223360"/>
            <a:ext cx="1748160" cy="532080"/>
            <a:chOff x="992160" y="2223360"/>
            <a:chExt cx="1748160" cy="532080"/>
          </a:xfrm>
        </p:grpSpPr>
        <p:sp>
          <p:nvSpPr>
            <p:cNvPr id="112" name="Freeform 7"/>
            <p:cNvSpPr/>
            <p:nvPr/>
          </p:nvSpPr>
          <p:spPr>
            <a:xfrm>
              <a:off x="992160" y="2223360"/>
              <a:ext cx="1748160" cy="532080"/>
            </a:xfrm>
            <a:custGeom>
              <a:avLst/>
              <a:gdLst>
                <a:gd name="textAreaLeft" fmla="*/ 0 w 1748160"/>
                <a:gd name="textAreaRight" fmla="*/ 1748880 w 1748160"/>
                <a:gd name="textAreaTop" fmla="*/ 0 h 532080"/>
                <a:gd name="textAreaBottom" fmla="*/ 532800 h 532080"/>
              </a:gdLst>
              <a:ahLst/>
              <a:cxnLst/>
              <a:rect l="textAreaLeft" t="textAreaTop" r="textAreaRight" b="textAreaBottom"/>
              <a:pathLst>
                <a:path w="2331974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86635" y="0"/>
                  </a:lnTo>
                  <a:cubicBezTo>
                    <a:pt x="2311654" y="0"/>
                    <a:pt x="2331974" y="20320"/>
                    <a:pt x="2331974" y="45339"/>
                  </a:cubicBezTo>
                  <a:lnTo>
                    <a:pt x="2331974" y="665099"/>
                  </a:lnTo>
                  <a:cubicBezTo>
                    <a:pt x="2331974" y="690118"/>
                    <a:pt x="2311654" y="710438"/>
                    <a:pt x="2286635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" name="TextBox 8"/>
          <p:cNvSpPr/>
          <p:nvPr/>
        </p:nvSpPr>
        <p:spPr>
          <a:xfrm>
            <a:off x="1162440" y="2232000"/>
            <a:ext cx="2322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13"/>
              </a:lnSpc>
            </a:pPr>
            <a:r>
              <a:rPr lang="en-US" sz="17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LA SOLUCIÓN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992160" y="2840760"/>
            <a:ext cx="102704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863"/>
              </a:lnSpc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Objetivos del Proyecto</a:t>
            </a:r>
            <a:endParaRPr lang="es-ES" sz="5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5" name="Group 10"/>
          <p:cNvGrpSpPr/>
          <p:nvPr/>
        </p:nvGrpSpPr>
        <p:grpSpPr>
          <a:xfrm>
            <a:off x="973080" y="4586760"/>
            <a:ext cx="5282640" cy="3495240"/>
            <a:chOff x="973080" y="4586760"/>
            <a:chExt cx="5282640" cy="3495240"/>
          </a:xfrm>
        </p:grpSpPr>
        <p:sp>
          <p:nvSpPr>
            <p:cNvPr id="116" name="Freeform 11"/>
            <p:cNvSpPr/>
            <p:nvPr/>
          </p:nvSpPr>
          <p:spPr>
            <a:xfrm>
              <a:off x="973080" y="4586760"/>
              <a:ext cx="5282640" cy="3495240"/>
            </a:xfrm>
            <a:custGeom>
              <a:avLst/>
              <a:gdLst>
                <a:gd name="textAreaLeft" fmla="*/ 0 w 5282640"/>
                <a:gd name="textAreaRight" fmla="*/ 5283360 w 5282640"/>
                <a:gd name="textAreaTop" fmla="*/ 0 h 3495240"/>
                <a:gd name="textAreaBottom" fmla="*/ 3495960 h 3495240"/>
              </a:gdLst>
              <a:ahLst/>
              <a:cxnLst/>
              <a:rect l="textAreaLeft" t="textAreaTop" r="textAreaRight" b="textAreaBottom"/>
              <a:pathLst>
                <a:path w="7044689" h="4661281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6798183" y="0"/>
                  </a:lnTo>
                  <a:cubicBezTo>
                    <a:pt x="6934326" y="0"/>
                    <a:pt x="7044689" y="110363"/>
                    <a:pt x="7044689" y="246507"/>
                  </a:cubicBezTo>
                  <a:lnTo>
                    <a:pt x="7044689" y="4414774"/>
                  </a:lnTo>
                  <a:cubicBezTo>
                    <a:pt x="7044689" y="4550918"/>
                    <a:pt x="6934326" y="4661281"/>
                    <a:pt x="6798183" y="4661281"/>
                  </a:cubicBezTo>
                  <a:lnTo>
                    <a:pt x="246507" y="4661281"/>
                  </a:lnTo>
                  <a:cubicBezTo>
                    <a:pt x="110363" y="4661281"/>
                    <a:pt x="0" y="4550918"/>
                    <a:pt x="0" y="4414774"/>
                  </a:cubicBezTo>
                  <a:close/>
                </a:path>
              </a:pathLst>
            </a:custGeom>
            <a:solidFill>
              <a:srgbClr val="212121"/>
            </a:solidFill>
            <a:ln cap="sq" w="3810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" name="Group 12"/>
          <p:cNvGrpSpPr/>
          <p:nvPr/>
        </p:nvGrpSpPr>
        <p:grpSpPr>
          <a:xfrm>
            <a:off x="992160" y="4567680"/>
            <a:ext cx="5244840" cy="151920"/>
            <a:chOff x="992160" y="4567680"/>
            <a:chExt cx="5244840" cy="151920"/>
          </a:xfrm>
        </p:grpSpPr>
        <p:sp>
          <p:nvSpPr>
            <p:cNvPr id="118" name="Freeform 13"/>
            <p:cNvSpPr/>
            <p:nvPr/>
          </p:nvSpPr>
          <p:spPr>
            <a:xfrm>
              <a:off x="992160" y="4567680"/>
              <a:ext cx="5244840" cy="15192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699401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Group 14"/>
          <p:cNvGrpSpPr/>
          <p:nvPr/>
        </p:nvGrpSpPr>
        <p:grpSpPr>
          <a:xfrm>
            <a:off x="3189600" y="4180680"/>
            <a:ext cx="849960" cy="849960"/>
            <a:chOff x="3189600" y="4180680"/>
            <a:chExt cx="849960" cy="849960"/>
          </a:xfrm>
        </p:grpSpPr>
        <p:sp>
          <p:nvSpPr>
            <p:cNvPr id="120" name="Freeform 15"/>
            <p:cNvSpPr/>
            <p:nvPr/>
          </p:nvSpPr>
          <p:spPr>
            <a:xfrm>
              <a:off x="3189600" y="4180680"/>
              <a:ext cx="849960" cy="849960"/>
            </a:xfrm>
            <a:custGeom>
              <a:avLst/>
              <a:gdLst>
                <a:gd name="textAreaLeft" fmla="*/ 0 w 849960"/>
                <a:gd name="textAreaRight" fmla="*/ 850680 w 849960"/>
                <a:gd name="textAreaTop" fmla="*/ 0 h 849960"/>
                <a:gd name="textAreaBottom" fmla="*/ 850680 h 849960"/>
              </a:gdLst>
              <a:ahLst/>
              <a:cxnLst/>
              <a:rect l="textAreaLeft" t="textAreaTop" r="textAreaRight" b="textAreaBottom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" name="TextBox 16"/>
          <p:cNvSpPr/>
          <p:nvPr/>
        </p:nvSpPr>
        <p:spPr>
          <a:xfrm>
            <a:off x="1314000" y="5304960"/>
            <a:ext cx="460152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Nube Híbrida 100% Open Source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1314000" y="6275160"/>
            <a:ext cx="4601520" cy="14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Combina infraestructura local y la nube, evitando dependencia de proveedores propietarios.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oup 18"/>
          <p:cNvGrpSpPr/>
          <p:nvPr/>
        </p:nvGrpSpPr>
        <p:grpSpPr>
          <a:xfrm>
            <a:off x="6502320" y="4586760"/>
            <a:ext cx="5282640" cy="3495240"/>
            <a:chOff x="6502320" y="4586760"/>
            <a:chExt cx="5282640" cy="3495240"/>
          </a:xfrm>
        </p:grpSpPr>
        <p:sp>
          <p:nvSpPr>
            <p:cNvPr id="124" name="Freeform 19"/>
            <p:cNvSpPr/>
            <p:nvPr/>
          </p:nvSpPr>
          <p:spPr>
            <a:xfrm>
              <a:off x="6502320" y="4586760"/>
              <a:ext cx="5282640" cy="3495240"/>
            </a:xfrm>
            <a:custGeom>
              <a:avLst/>
              <a:gdLst>
                <a:gd name="textAreaLeft" fmla="*/ 0 w 5282640"/>
                <a:gd name="textAreaRight" fmla="*/ 5283360 w 5282640"/>
                <a:gd name="textAreaTop" fmla="*/ 0 h 3495240"/>
                <a:gd name="textAreaBottom" fmla="*/ 3495960 h 3495240"/>
              </a:gdLst>
              <a:ahLst/>
              <a:cxnLst/>
              <a:rect l="textAreaLeft" t="textAreaTop" r="textAreaRight" b="textAreaBottom"/>
              <a:pathLst>
                <a:path w="7044689" h="4661281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6798183" y="0"/>
                  </a:lnTo>
                  <a:cubicBezTo>
                    <a:pt x="6934326" y="0"/>
                    <a:pt x="7044689" y="110363"/>
                    <a:pt x="7044689" y="246507"/>
                  </a:cubicBezTo>
                  <a:lnTo>
                    <a:pt x="7044689" y="4414774"/>
                  </a:lnTo>
                  <a:cubicBezTo>
                    <a:pt x="7044689" y="4550918"/>
                    <a:pt x="6934326" y="4661281"/>
                    <a:pt x="6798183" y="4661281"/>
                  </a:cubicBezTo>
                  <a:lnTo>
                    <a:pt x="246507" y="4661281"/>
                  </a:lnTo>
                  <a:cubicBezTo>
                    <a:pt x="110363" y="4661281"/>
                    <a:pt x="0" y="4550918"/>
                    <a:pt x="0" y="4414774"/>
                  </a:cubicBezTo>
                  <a:close/>
                </a:path>
              </a:pathLst>
            </a:custGeom>
            <a:solidFill>
              <a:srgbClr val="212121"/>
            </a:solidFill>
            <a:ln cap="sq" w="3810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" name="Group 20"/>
          <p:cNvGrpSpPr/>
          <p:nvPr/>
        </p:nvGrpSpPr>
        <p:grpSpPr>
          <a:xfrm>
            <a:off x="6521040" y="4567680"/>
            <a:ext cx="5244840" cy="151920"/>
            <a:chOff x="6521040" y="4567680"/>
            <a:chExt cx="5244840" cy="151920"/>
          </a:xfrm>
        </p:grpSpPr>
        <p:sp>
          <p:nvSpPr>
            <p:cNvPr id="126" name="Freeform 21"/>
            <p:cNvSpPr/>
            <p:nvPr/>
          </p:nvSpPr>
          <p:spPr>
            <a:xfrm>
              <a:off x="6521040" y="4567680"/>
              <a:ext cx="5244840" cy="15192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699401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" name="Group 22"/>
          <p:cNvGrpSpPr/>
          <p:nvPr/>
        </p:nvGrpSpPr>
        <p:grpSpPr>
          <a:xfrm>
            <a:off x="8718480" y="4180680"/>
            <a:ext cx="849960" cy="849960"/>
            <a:chOff x="8718480" y="4180680"/>
            <a:chExt cx="849960" cy="849960"/>
          </a:xfrm>
        </p:grpSpPr>
        <p:sp>
          <p:nvSpPr>
            <p:cNvPr id="128" name="Freeform 23"/>
            <p:cNvSpPr/>
            <p:nvPr/>
          </p:nvSpPr>
          <p:spPr>
            <a:xfrm>
              <a:off x="8718480" y="4180680"/>
              <a:ext cx="849960" cy="849960"/>
            </a:xfrm>
            <a:custGeom>
              <a:avLst/>
              <a:gdLst>
                <a:gd name="textAreaLeft" fmla="*/ 0 w 849960"/>
                <a:gd name="textAreaRight" fmla="*/ 850680 w 849960"/>
                <a:gd name="textAreaTop" fmla="*/ 0 h 849960"/>
                <a:gd name="textAreaBottom" fmla="*/ 850680 h 849960"/>
              </a:gdLst>
              <a:ahLst/>
              <a:cxnLst/>
              <a:rect l="textAreaLeft" t="textAreaTop" r="textAreaRight" b="textAreaBottom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TextBox 24"/>
          <p:cNvSpPr/>
          <p:nvPr/>
        </p:nvSpPr>
        <p:spPr>
          <a:xfrm>
            <a:off x="7372080" y="530496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Centralización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5"/>
          <p:cNvSpPr/>
          <p:nvPr/>
        </p:nvSpPr>
        <p:spPr>
          <a:xfrm>
            <a:off x="6842880" y="5832360"/>
            <a:ext cx="4601520" cy="19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Unifica herramientas, accesos y flujos de trabajo en una sola plataforma para simplificar la gestión.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1" name="Group 26"/>
          <p:cNvGrpSpPr/>
          <p:nvPr/>
        </p:nvGrpSpPr>
        <p:grpSpPr>
          <a:xfrm>
            <a:off x="12031200" y="4586760"/>
            <a:ext cx="5282640" cy="3495240"/>
            <a:chOff x="12031200" y="4586760"/>
            <a:chExt cx="5282640" cy="3495240"/>
          </a:xfrm>
        </p:grpSpPr>
        <p:sp>
          <p:nvSpPr>
            <p:cNvPr id="132" name="Freeform 27"/>
            <p:cNvSpPr/>
            <p:nvPr/>
          </p:nvSpPr>
          <p:spPr>
            <a:xfrm>
              <a:off x="12031200" y="4586760"/>
              <a:ext cx="5282640" cy="3495240"/>
            </a:xfrm>
            <a:custGeom>
              <a:avLst/>
              <a:gdLst>
                <a:gd name="textAreaLeft" fmla="*/ 0 w 5282640"/>
                <a:gd name="textAreaRight" fmla="*/ 5283360 w 5282640"/>
                <a:gd name="textAreaTop" fmla="*/ 0 h 3495240"/>
                <a:gd name="textAreaBottom" fmla="*/ 3495960 h 3495240"/>
              </a:gdLst>
              <a:ahLst/>
              <a:cxnLst/>
              <a:rect l="textAreaLeft" t="textAreaTop" r="textAreaRight" b="textAreaBottom"/>
              <a:pathLst>
                <a:path w="7044689" h="4661281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6798183" y="0"/>
                  </a:lnTo>
                  <a:cubicBezTo>
                    <a:pt x="6934326" y="0"/>
                    <a:pt x="7044689" y="110363"/>
                    <a:pt x="7044689" y="246507"/>
                  </a:cubicBezTo>
                  <a:lnTo>
                    <a:pt x="7044689" y="4414774"/>
                  </a:lnTo>
                  <a:cubicBezTo>
                    <a:pt x="7044689" y="4550918"/>
                    <a:pt x="6934326" y="4661281"/>
                    <a:pt x="6798183" y="4661281"/>
                  </a:cubicBezTo>
                  <a:lnTo>
                    <a:pt x="246507" y="4661281"/>
                  </a:lnTo>
                  <a:cubicBezTo>
                    <a:pt x="110363" y="4661281"/>
                    <a:pt x="0" y="4550918"/>
                    <a:pt x="0" y="4414774"/>
                  </a:cubicBezTo>
                  <a:close/>
                </a:path>
              </a:pathLst>
            </a:custGeom>
            <a:solidFill>
              <a:srgbClr val="212121"/>
            </a:solidFill>
            <a:ln cap="sq" w="3810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" name="Group 28"/>
          <p:cNvGrpSpPr/>
          <p:nvPr/>
        </p:nvGrpSpPr>
        <p:grpSpPr>
          <a:xfrm>
            <a:off x="12050280" y="4567680"/>
            <a:ext cx="5244840" cy="151920"/>
            <a:chOff x="12050280" y="4567680"/>
            <a:chExt cx="5244840" cy="151920"/>
          </a:xfrm>
        </p:grpSpPr>
        <p:sp>
          <p:nvSpPr>
            <p:cNvPr id="134" name="Freeform 29"/>
            <p:cNvSpPr/>
            <p:nvPr/>
          </p:nvSpPr>
          <p:spPr>
            <a:xfrm>
              <a:off x="12050280" y="4567680"/>
              <a:ext cx="5244840" cy="15192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699401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" name="Group 30"/>
          <p:cNvGrpSpPr/>
          <p:nvPr/>
        </p:nvGrpSpPr>
        <p:grpSpPr>
          <a:xfrm>
            <a:off x="14247720" y="4180680"/>
            <a:ext cx="849960" cy="849960"/>
            <a:chOff x="14247720" y="4180680"/>
            <a:chExt cx="849960" cy="849960"/>
          </a:xfrm>
        </p:grpSpPr>
        <p:sp>
          <p:nvSpPr>
            <p:cNvPr id="136" name="Freeform 31"/>
            <p:cNvSpPr/>
            <p:nvPr/>
          </p:nvSpPr>
          <p:spPr>
            <a:xfrm>
              <a:off x="14247720" y="4180680"/>
              <a:ext cx="849960" cy="849960"/>
            </a:xfrm>
            <a:custGeom>
              <a:avLst/>
              <a:gdLst>
                <a:gd name="textAreaLeft" fmla="*/ 0 w 849960"/>
                <a:gd name="textAreaRight" fmla="*/ 850680 w 849960"/>
                <a:gd name="textAreaTop" fmla="*/ 0 h 849960"/>
                <a:gd name="textAreaBottom" fmla="*/ 850680 h 849960"/>
              </a:gdLst>
              <a:ahLst/>
              <a:cxnLst/>
              <a:rect l="textAreaLeft" t="textAreaTop" r="textAreaRight" b="textAreaBottom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" name="TextBox 32"/>
          <p:cNvSpPr/>
          <p:nvPr/>
        </p:nvSpPr>
        <p:spPr>
          <a:xfrm>
            <a:off x="12371760" y="5304960"/>
            <a:ext cx="460152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Privacidad Garantizada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33"/>
          <p:cNvSpPr/>
          <p:nvPr/>
        </p:nvSpPr>
        <p:spPr>
          <a:xfrm>
            <a:off x="12371760" y="6275160"/>
            <a:ext cx="4601520" cy="14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Los datos permanecen bajo control de la empresa, con mayor seguridad, auditoría y cumplimiento.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40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42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" name="Group 6"/>
          <p:cNvGrpSpPr/>
          <p:nvPr/>
        </p:nvGrpSpPr>
        <p:grpSpPr>
          <a:xfrm>
            <a:off x="992160" y="1005120"/>
            <a:ext cx="1573920" cy="396720"/>
            <a:chOff x="992160" y="1005120"/>
            <a:chExt cx="1573920" cy="396720"/>
          </a:xfrm>
        </p:grpSpPr>
        <p:sp>
          <p:nvSpPr>
            <p:cNvPr id="144" name="Freeform 7"/>
            <p:cNvSpPr/>
            <p:nvPr/>
          </p:nvSpPr>
          <p:spPr>
            <a:xfrm>
              <a:off x="992160" y="1005120"/>
              <a:ext cx="1573920" cy="396720"/>
            </a:xfrm>
            <a:custGeom>
              <a:avLst/>
              <a:gdLst>
                <a:gd name="textAreaLeft" fmla="*/ 0 w 1573920"/>
                <a:gd name="textAreaRight" fmla="*/ 1574640 w 1573920"/>
                <a:gd name="textAreaTop" fmla="*/ 0 h 396720"/>
                <a:gd name="textAreaBottom" fmla="*/ 397440 h 396720"/>
              </a:gdLst>
              <a:ahLst/>
              <a:cxnLst/>
              <a:rect l="textAreaLeft" t="textAreaTop" r="textAreaRight" b="textAreaBottom"/>
              <a:pathLst>
                <a:path w="2099310" h="529717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2062988" y="0"/>
                  </a:lnTo>
                  <a:cubicBezTo>
                    <a:pt x="2083054" y="0"/>
                    <a:pt x="2099310" y="16256"/>
                    <a:pt x="2099310" y="36322"/>
                  </a:cubicBezTo>
                  <a:lnTo>
                    <a:pt x="2099310" y="493395"/>
                  </a:lnTo>
                  <a:cubicBezTo>
                    <a:pt x="2099310" y="513461"/>
                    <a:pt x="2083054" y="529717"/>
                    <a:pt x="2062988" y="529717"/>
                  </a:cubicBezTo>
                  <a:lnTo>
                    <a:pt x="36322" y="529717"/>
                  </a:lnTo>
                  <a:cubicBezTo>
                    <a:pt x="16256" y="529590"/>
                    <a:pt x="0" y="513334"/>
                    <a:pt x="0" y="493395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TextBox 8"/>
          <p:cNvSpPr/>
          <p:nvPr/>
        </p:nvSpPr>
        <p:spPr>
          <a:xfrm>
            <a:off x="1128240" y="1025640"/>
            <a:ext cx="2216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15"/>
              </a:lnSpc>
            </a:pPr>
            <a:r>
              <a:rPr lang="en-US" sz="14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ARQUITECTURA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992160" y="1455840"/>
            <a:ext cx="13840920" cy="7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491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Infraestructura Basada en Contenedores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7" name="Group 10"/>
          <p:cNvGrpSpPr/>
          <p:nvPr/>
        </p:nvGrpSpPr>
        <p:grpSpPr>
          <a:xfrm>
            <a:off x="2622600" y="2455560"/>
            <a:ext cx="13042080" cy="5968080"/>
            <a:chOff x="2622600" y="2455560"/>
            <a:chExt cx="13042080" cy="5968080"/>
          </a:xfrm>
        </p:grpSpPr>
        <p:sp>
          <p:nvSpPr>
            <p:cNvPr id="148" name="Freeform 11" descr="preencoded.png"/>
            <p:cNvSpPr/>
            <p:nvPr/>
          </p:nvSpPr>
          <p:spPr>
            <a:xfrm>
              <a:off x="2622600" y="2455560"/>
              <a:ext cx="13042080" cy="5968080"/>
            </a:xfrm>
            <a:custGeom>
              <a:avLst/>
              <a:gdLst>
                <a:gd name="textAreaLeft" fmla="*/ 0 w 13042080"/>
                <a:gd name="textAreaRight" fmla="*/ 13042800 w 13042080"/>
                <a:gd name="textAreaTop" fmla="*/ 0 h 5968080"/>
                <a:gd name="textAreaBottom" fmla="*/ 5968800 h 5968080"/>
              </a:gdLst>
              <a:ahLst/>
              <a:cxnLst/>
              <a:rect l="textAreaLeft" t="textAreaTop" r="textAreaRight" b="textAreaBottom"/>
              <a:pathLst>
                <a:path w="17390238" h="7958582">
                  <a:moveTo>
                    <a:pt x="0" y="0"/>
                  </a:moveTo>
                  <a:lnTo>
                    <a:pt x="17390238" y="0"/>
                  </a:lnTo>
                  <a:lnTo>
                    <a:pt x="17390238" y="7958582"/>
                  </a:lnTo>
                  <a:lnTo>
                    <a:pt x="0" y="795858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TextBox 12"/>
          <p:cNvSpPr/>
          <p:nvPr/>
        </p:nvSpPr>
        <p:spPr>
          <a:xfrm>
            <a:off x="12176640" y="3051360"/>
            <a:ext cx="3179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44"/>
              </a:lnSpc>
            </a:pP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Volúmenes Persistentes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12176640" y="3884760"/>
            <a:ext cx="3179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30"/>
              </a:lnSpc>
            </a:pPr>
            <a:r>
              <a:rPr lang="en-US" sz="18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Tolerancia a fallos y datos duraderos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2969640" y="5063760"/>
            <a:ext cx="28843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ts val="2744"/>
              </a:lnSpc>
            </a:pP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Microservicios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2931120" y="5536440"/>
            <a:ext cx="2922840" cy="7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ts val="2030"/>
              </a:lnSpc>
            </a:pPr>
            <a:r>
              <a:rPr lang="en-US" sz="18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Nginx Proxy Manager, Nextcloud+MariaDB, Vaultwarden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6"/>
          <p:cNvSpPr/>
          <p:nvPr/>
        </p:nvSpPr>
        <p:spPr>
          <a:xfrm>
            <a:off x="12176640" y="6206400"/>
            <a:ext cx="28843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44"/>
              </a:lnSpc>
            </a:pP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Núcleo: Docker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7"/>
          <p:cNvSpPr/>
          <p:nvPr/>
        </p:nvSpPr>
        <p:spPr>
          <a:xfrm>
            <a:off x="12176640" y="6679080"/>
            <a:ext cx="3179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30"/>
              </a:lnSpc>
            </a:pPr>
            <a:r>
              <a:rPr lang="en-US" sz="18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Docker y Docker Compose como base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992160" y="8580960"/>
            <a:ext cx="1630296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449"/>
              </a:lnSpc>
            </a:pPr>
            <a:r>
              <a:rPr lang="en-US" sz="17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Docker y Docker Compose permiten aislar cada servicio como microservicio independiente, garantizando tolerancia a fallos mediante volúmenes persistentes y facilitando el despliegue y mantenimiento del entorno.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57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59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" name="Group 6"/>
          <p:cNvGrpSpPr/>
          <p:nvPr/>
        </p:nvGrpSpPr>
        <p:grpSpPr>
          <a:xfrm>
            <a:off x="992160" y="800280"/>
            <a:ext cx="680760" cy="462600"/>
            <a:chOff x="992160" y="800280"/>
            <a:chExt cx="680760" cy="462600"/>
          </a:xfrm>
        </p:grpSpPr>
        <p:sp>
          <p:nvSpPr>
            <p:cNvPr id="161" name="Freeform 7"/>
            <p:cNvSpPr/>
            <p:nvPr/>
          </p:nvSpPr>
          <p:spPr>
            <a:xfrm>
              <a:off x="992160" y="800280"/>
              <a:ext cx="680760" cy="462600"/>
            </a:xfrm>
            <a:custGeom>
              <a:avLst/>
              <a:gdLst>
                <a:gd name="textAreaLeft" fmla="*/ 0 w 680760"/>
                <a:gd name="textAreaRight" fmla="*/ 681480 w 680760"/>
                <a:gd name="textAreaTop" fmla="*/ 0 h 462600"/>
                <a:gd name="textAreaBottom" fmla="*/ 463320 h 462600"/>
              </a:gdLst>
              <a:ahLst/>
              <a:cxnLst/>
              <a:rect l="textAreaLeft" t="textAreaTop" r="textAreaRight" b="textAreaBottom"/>
              <a:pathLst>
                <a:path w="908812" h="617728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868045" y="0"/>
                  </a:lnTo>
                  <a:cubicBezTo>
                    <a:pt x="890651" y="0"/>
                    <a:pt x="908812" y="18288"/>
                    <a:pt x="908812" y="40767"/>
                  </a:cubicBezTo>
                  <a:lnTo>
                    <a:pt x="908812" y="576961"/>
                  </a:lnTo>
                  <a:cubicBezTo>
                    <a:pt x="908812" y="599567"/>
                    <a:pt x="890524" y="617728"/>
                    <a:pt x="868045" y="617728"/>
                  </a:cubicBezTo>
                  <a:lnTo>
                    <a:pt x="40767" y="617728"/>
                  </a:lnTo>
                  <a:cubicBezTo>
                    <a:pt x="18288" y="617728"/>
                    <a:pt x="0" y="599440"/>
                    <a:pt x="0" y="576961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TextBox 8"/>
          <p:cNvSpPr/>
          <p:nvPr/>
        </p:nvSpPr>
        <p:spPr>
          <a:xfrm>
            <a:off x="1145160" y="810000"/>
            <a:ext cx="128916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438"/>
              </a:lnSpc>
            </a:pPr>
            <a:r>
              <a:rPr lang="en-US" sz="16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RED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992160" y="1336320"/>
            <a:ext cx="13545720" cy="81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239"/>
              </a:lnSpc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Enrutamiento: Nginx Proxy Manager</a:t>
            </a:r>
            <a:endParaRPr lang="es-E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4" name="Group 10"/>
          <p:cNvGrpSpPr/>
          <p:nvPr/>
        </p:nvGrpSpPr>
        <p:grpSpPr>
          <a:xfrm>
            <a:off x="992160" y="2755440"/>
            <a:ext cx="9326160" cy="6472440"/>
            <a:chOff x="992160" y="2755440"/>
            <a:chExt cx="9326160" cy="6472440"/>
          </a:xfrm>
        </p:grpSpPr>
        <p:sp>
          <p:nvSpPr>
            <p:cNvPr id="165" name="Freeform 11" descr="preencoded.png"/>
            <p:cNvSpPr/>
            <p:nvPr/>
          </p:nvSpPr>
          <p:spPr>
            <a:xfrm>
              <a:off x="992160" y="2755440"/>
              <a:ext cx="9326160" cy="6472440"/>
            </a:xfrm>
            <a:custGeom>
              <a:avLst/>
              <a:gdLst>
                <a:gd name="textAreaLeft" fmla="*/ 0 w 9326160"/>
                <a:gd name="textAreaRight" fmla="*/ 9326880 w 9326160"/>
                <a:gd name="textAreaTop" fmla="*/ 0 h 6472440"/>
                <a:gd name="textAreaBottom" fmla="*/ 6473160 h 6472440"/>
              </a:gdLst>
              <a:ahLst/>
              <a:cxnLst/>
              <a:rect l="textAreaLeft" t="textAreaTop" r="textAreaRight" b="textAreaBottom"/>
              <a:pathLst>
                <a:path w="12435713" h="8630793">
                  <a:moveTo>
                    <a:pt x="0" y="0"/>
                  </a:moveTo>
                  <a:lnTo>
                    <a:pt x="12435713" y="0"/>
                  </a:lnTo>
                  <a:lnTo>
                    <a:pt x="12435713" y="8630793"/>
                  </a:lnTo>
                  <a:lnTo>
                    <a:pt x="0" y="863079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6" name="Freeform 12" descr="preencoded.png"/>
          <p:cNvSpPr/>
          <p:nvPr/>
        </p:nvSpPr>
        <p:spPr>
          <a:xfrm>
            <a:off x="12099240" y="3231000"/>
            <a:ext cx="381960" cy="381960"/>
          </a:xfrm>
          <a:custGeom>
            <a:avLst/>
            <a:gdLst>
              <a:gd name="textAreaLeft" fmla="*/ 0 w 381960"/>
              <a:gd name="textAreaRight" fmla="*/ 382680 w 381960"/>
              <a:gd name="textAreaTop" fmla="*/ 0 h 381960"/>
              <a:gd name="textAreaBottom" fmla="*/ 382680 h 381960"/>
            </a:gdLst>
            <a:ahLst/>
            <a:cxnLst/>
            <a:rect l="textAreaLeft" t="textAreaTop" r="textAreaRight" b="textAreaBottom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3"/>
          <p:cNvSpPr/>
          <p:nvPr/>
        </p:nvSpPr>
        <p:spPr>
          <a:xfrm>
            <a:off x="12832560" y="3213720"/>
            <a:ext cx="318888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118"/>
              </a:lnSpc>
            </a:pPr>
            <a:r>
              <a:rPr lang="en-US" sz="25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Proxy Inverso</a:t>
            </a:r>
            <a:endParaRPr lang="es-E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12832560" y="3775320"/>
            <a:ext cx="4471560" cy="8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47"/>
              </a:lnSpc>
            </a:pPr>
            <a:r>
              <a:rPr lang="en-US" sz="20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Actúa como única puerta de entrada a todos los servicios.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Freeform 15" descr="preencoded.png"/>
          <p:cNvSpPr/>
          <p:nvPr/>
        </p:nvSpPr>
        <p:spPr>
          <a:xfrm>
            <a:off x="12099240" y="5094360"/>
            <a:ext cx="381960" cy="381960"/>
          </a:xfrm>
          <a:custGeom>
            <a:avLst/>
            <a:gdLst>
              <a:gd name="textAreaLeft" fmla="*/ 0 w 381960"/>
              <a:gd name="textAreaRight" fmla="*/ 382680 w 381960"/>
              <a:gd name="textAreaTop" fmla="*/ 0 h 381960"/>
              <a:gd name="textAreaBottom" fmla="*/ 382680 h 381960"/>
            </a:gdLst>
            <a:ahLst/>
            <a:cxnLst/>
            <a:rect l="textAreaLeft" t="textAreaTop" r="textAreaRight" b="textAreaBottom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6"/>
          <p:cNvSpPr/>
          <p:nvPr/>
        </p:nvSpPr>
        <p:spPr>
          <a:xfrm>
            <a:off x="12832560" y="5077080"/>
            <a:ext cx="420804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118"/>
              </a:lnSpc>
            </a:pPr>
            <a:r>
              <a:rPr lang="en-US" sz="25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Traducción de Dominios</a:t>
            </a:r>
            <a:endParaRPr lang="es-E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7"/>
          <p:cNvSpPr/>
          <p:nvPr/>
        </p:nvSpPr>
        <p:spPr>
          <a:xfrm>
            <a:off x="12832560" y="5638680"/>
            <a:ext cx="447156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47"/>
              </a:lnSpc>
            </a:pPr>
            <a:r>
              <a:rPr lang="en-US" sz="20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Traduce dominios locales como mi-nextcloud.local a contenedores específicos.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Freeform 18" descr="preencoded.png"/>
          <p:cNvSpPr/>
          <p:nvPr/>
        </p:nvSpPr>
        <p:spPr>
          <a:xfrm>
            <a:off x="12099240" y="7364520"/>
            <a:ext cx="381960" cy="381960"/>
          </a:xfrm>
          <a:custGeom>
            <a:avLst/>
            <a:gdLst>
              <a:gd name="textAreaLeft" fmla="*/ 0 w 381960"/>
              <a:gd name="textAreaRight" fmla="*/ 382680 w 381960"/>
              <a:gd name="textAreaTop" fmla="*/ 0 h 381960"/>
              <a:gd name="textAreaBottom" fmla="*/ 382680 h 381960"/>
            </a:gdLst>
            <a:ahLst/>
            <a:cxnLst/>
            <a:rect l="textAreaLeft" t="textAreaTop" r="textAreaRight" b="textAreaBottom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9"/>
          <p:cNvSpPr/>
          <p:nvPr/>
        </p:nvSpPr>
        <p:spPr>
          <a:xfrm>
            <a:off x="12832560" y="7346880"/>
            <a:ext cx="401688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118"/>
              </a:lnSpc>
            </a:pPr>
            <a:r>
              <a:rPr lang="en-US" sz="25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Sin Puertos Expuestos</a:t>
            </a:r>
            <a:endParaRPr lang="es-E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0"/>
          <p:cNvSpPr/>
          <p:nvPr/>
        </p:nvSpPr>
        <p:spPr>
          <a:xfrm>
            <a:off x="12832560" y="7908480"/>
            <a:ext cx="4471560" cy="8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47"/>
              </a:lnSpc>
            </a:pPr>
            <a:r>
              <a:rPr lang="en-US" sz="20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Evita exponer puertos internos de la red corporativa.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76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178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" name="Group 6"/>
          <p:cNvGrpSpPr/>
          <p:nvPr/>
        </p:nvGrpSpPr>
        <p:grpSpPr>
          <a:xfrm>
            <a:off x="0" y="0"/>
            <a:ext cx="6857280" cy="10286280"/>
            <a:chOff x="0" y="0"/>
            <a:chExt cx="6857280" cy="10286280"/>
          </a:xfrm>
        </p:grpSpPr>
        <p:sp>
          <p:nvSpPr>
            <p:cNvPr id="180" name="Freeform 7" descr="preencoded.png"/>
            <p:cNvSpPr/>
            <p:nvPr/>
          </p:nvSpPr>
          <p:spPr>
            <a:xfrm>
              <a:off x="0" y="0"/>
              <a:ext cx="6857280" cy="10286280"/>
            </a:xfrm>
            <a:custGeom>
              <a:avLst/>
              <a:gdLst>
                <a:gd name="textAreaLeft" fmla="*/ 0 w 6857280"/>
                <a:gd name="textAreaRight" fmla="*/ 6858000 w 685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roup 8"/>
          <p:cNvGrpSpPr/>
          <p:nvPr/>
        </p:nvGrpSpPr>
        <p:grpSpPr>
          <a:xfrm>
            <a:off x="7850160" y="1634400"/>
            <a:ext cx="2378880" cy="532080"/>
            <a:chOff x="7850160" y="1634400"/>
            <a:chExt cx="2378880" cy="532080"/>
          </a:xfrm>
        </p:grpSpPr>
        <p:sp>
          <p:nvSpPr>
            <p:cNvPr id="182" name="Freeform 9"/>
            <p:cNvSpPr/>
            <p:nvPr/>
          </p:nvSpPr>
          <p:spPr>
            <a:xfrm>
              <a:off x="7850160" y="1634400"/>
              <a:ext cx="2378880" cy="532080"/>
            </a:xfrm>
            <a:custGeom>
              <a:avLst/>
              <a:gdLst>
                <a:gd name="textAreaLeft" fmla="*/ 0 w 2378880"/>
                <a:gd name="textAreaRight" fmla="*/ 2379600 w 2378880"/>
                <a:gd name="textAreaTop" fmla="*/ 0 h 532080"/>
                <a:gd name="textAreaBottom" fmla="*/ 532800 h 532080"/>
              </a:gdLst>
              <a:ahLst/>
              <a:cxnLst/>
              <a:rect l="textAreaLeft" t="textAreaTop" r="textAreaRight" b="textAreaBottom"/>
              <a:pathLst>
                <a:path w="3172841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127502" y="0"/>
                  </a:lnTo>
                  <a:cubicBezTo>
                    <a:pt x="3152521" y="0"/>
                    <a:pt x="3172841" y="20320"/>
                    <a:pt x="3172841" y="45339"/>
                  </a:cubicBezTo>
                  <a:lnTo>
                    <a:pt x="3172841" y="665099"/>
                  </a:lnTo>
                  <a:cubicBezTo>
                    <a:pt x="3172841" y="690118"/>
                    <a:pt x="3152521" y="710438"/>
                    <a:pt x="312750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" name="TextBox 10"/>
          <p:cNvSpPr/>
          <p:nvPr/>
        </p:nvSpPr>
        <p:spPr>
          <a:xfrm>
            <a:off x="8020440" y="1643040"/>
            <a:ext cx="2953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13"/>
              </a:lnSpc>
            </a:pPr>
            <a:r>
              <a:rPr lang="en-US" sz="17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ALMACENAMIENTO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7850160" y="2252160"/>
            <a:ext cx="944496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863"/>
              </a:lnSpc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Nube Híbrida con Nextcloud + MariaDB</a:t>
            </a:r>
            <a:endParaRPr lang="es-ES" sz="5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5" name="Group 12"/>
          <p:cNvGrpSpPr/>
          <p:nvPr/>
        </p:nvGrpSpPr>
        <p:grpSpPr>
          <a:xfrm>
            <a:off x="7850160" y="4477680"/>
            <a:ext cx="9444960" cy="4173840"/>
            <a:chOff x="7850160" y="4477680"/>
            <a:chExt cx="9444960" cy="4173840"/>
          </a:xfrm>
        </p:grpSpPr>
        <p:sp>
          <p:nvSpPr>
            <p:cNvPr id="186" name="Freeform 13"/>
            <p:cNvSpPr/>
            <p:nvPr/>
          </p:nvSpPr>
          <p:spPr>
            <a:xfrm>
              <a:off x="7850160" y="4477680"/>
              <a:ext cx="9444960" cy="4173840"/>
            </a:xfrm>
            <a:custGeom>
              <a:avLst/>
              <a:gdLst>
                <a:gd name="textAreaLeft" fmla="*/ 0 w 9444960"/>
                <a:gd name="textAreaRight" fmla="*/ 9445680 w 9444960"/>
                <a:gd name="textAreaTop" fmla="*/ 0 h 4173840"/>
                <a:gd name="textAreaBottom" fmla="*/ 4174560 h 4173840"/>
              </a:gdLst>
              <a:ahLst/>
              <a:cxnLst/>
              <a:rect l="textAreaLeft" t="textAreaTop" r="textAreaRight" b="textAreaBottom"/>
              <a:pathLst>
                <a:path w="12594082" h="556628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5509514"/>
                  </a:lnTo>
                  <a:cubicBezTo>
                    <a:pt x="12594082" y="5540883"/>
                    <a:pt x="12568682" y="5566283"/>
                    <a:pt x="12537313" y="5566283"/>
                  </a:cubicBezTo>
                  <a:lnTo>
                    <a:pt x="56769" y="5566283"/>
                  </a:lnTo>
                  <a:cubicBezTo>
                    <a:pt x="25400" y="5566283"/>
                    <a:pt x="0" y="5540883"/>
                    <a:pt x="0" y="5509514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7" name="Group 14"/>
          <p:cNvGrpSpPr/>
          <p:nvPr/>
        </p:nvGrpSpPr>
        <p:grpSpPr>
          <a:xfrm>
            <a:off x="7850160" y="4477680"/>
            <a:ext cx="4722120" cy="2540160"/>
            <a:chOff x="7850160" y="4477680"/>
            <a:chExt cx="4722120" cy="2540160"/>
          </a:xfrm>
        </p:grpSpPr>
        <p:sp>
          <p:nvSpPr>
            <p:cNvPr id="188" name="Freeform 15"/>
            <p:cNvSpPr/>
            <p:nvPr/>
          </p:nvSpPr>
          <p:spPr>
            <a:xfrm>
              <a:off x="7850160" y="4477680"/>
              <a:ext cx="4722120" cy="2540160"/>
            </a:xfrm>
            <a:custGeom>
              <a:avLst/>
              <a:gdLst>
                <a:gd name="textAreaLeft" fmla="*/ 0 w 4722120"/>
                <a:gd name="textAreaRight" fmla="*/ 4722840 w 4722120"/>
                <a:gd name="textAreaTop" fmla="*/ 0 h 2540160"/>
                <a:gd name="textAreaBottom" fmla="*/ 2540880 h 2540160"/>
              </a:gdLst>
              <a:ahLst/>
              <a:cxnLst/>
              <a:rect l="textAreaLeft" t="textAreaTop" r="textAreaRight" b="textAreaBottom"/>
              <a:pathLst>
                <a:path w="6297168" h="33879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240399" y="0"/>
                  </a:lnTo>
                  <a:cubicBezTo>
                    <a:pt x="6271768" y="0"/>
                    <a:pt x="6297168" y="25400"/>
                    <a:pt x="6297168" y="56769"/>
                  </a:cubicBezTo>
                  <a:lnTo>
                    <a:pt x="6297168" y="3331210"/>
                  </a:lnTo>
                  <a:cubicBezTo>
                    <a:pt x="6297168" y="3362579"/>
                    <a:pt x="6271768" y="3387979"/>
                    <a:pt x="6240399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TextBox 16"/>
          <p:cNvSpPr/>
          <p:nvPr/>
        </p:nvSpPr>
        <p:spPr>
          <a:xfrm>
            <a:off x="8133840" y="475164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Alternativa Real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8133840" y="5279040"/>
            <a:ext cx="4155120" cy="14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Reemplaza Google Drive y Dropbox sin perder funcionalidad.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1" name="Group 18"/>
          <p:cNvGrpSpPr/>
          <p:nvPr/>
        </p:nvGrpSpPr>
        <p:grpSpPr>
          <a:xfrm>
            <a:off x="12573000" y="4477680"/>
            <a:ext cx="4722120" cy="2540160"/>
            <a:chOff x="12573000" y="4477680"/>
            <a:chExt cx="4722120" cy="2540160"/>
          </a:xfrm>
        </p:grpSpPr>
        <p:sp>
          <p:nvSpPr>
            <p:cNvPr id="192" name="Freeform 19"/>
            <p:cNvSpPr/>
            <p:nvPr/>
          </p:nvSpPr>
          <p:spPr>
            <a:xfrm>
              <a:off x="12573000" y="4477680"/>
              <a:ext cx="4722120" cy="2540160"/>
            </a:xfrm>
            <a:custGeom>
              <a:avLst/>
              <a:gdLst>
                <a:gd name="textAreaLeft" fmla="*/ 0 w 4722120"/>
                <a:gd name="textAreaRight" fmla="*/ 4722840 w 4722120"/>
                <a:gd name="textAreaTop" fmla="*/ 0 h 2540160"/>
                <a:gd name="textAreaBottom" fmla="*/ 2540880 h 2540160"/>
              </a:gdLst>
              <a:ahLst/>
              <a:cxnLst/>
              <a:rect l="textAreaLeft" t="textAreaTop" r="textAreaRight" b="textAreaBottom"/>
              <a:pathLst>
                <a:path w="6297041" h="3387979">
                  <a:moveTo>
                    <a:pt x="0" y="0"/>
                  </a:moveTo>
                  <a:lnTo>
                    <a:pt x="6297041" y="0"/>
                  </a:lnTo>
                  <a:lnTo>
                    <a:pt x="6297041" y="3387979"/>
                  </a:lnTo>
                  <a:lnTo>
                    <a:pt x="0" y="3387979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3" name="Group 20"/>
          <p:cNvGrpSpPr/>
          <p:nvPr/>
        </p:nvGrpSpPr>
        <p:grpSpPr>
          <a:xfrm>
            <a:off x="12573000" y="4477680"/>
            <a:ext cx="37440" cy="2540160"/>
            <a:chOff x="12573000" y="4477680"/>
            <a:chExt cx="37440" cy="2540160"/>
          </a:xfrm>
        </p:grpSpPr>
        <p:sp>
          <p:nvSpPr>
            <p:cNvPr id="194" name="Freeform 21"/>
            <p:cNvSpPr/>
            <p:nvPr/>
          </p:nvSpPr>
          <p:spPr>
            <a:xfrm>
              <a:off x="12573000" y="4477680"/>
              <a:ext cx="37440" cy="2540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540160"/>
                <a:gd name="textAreaBottom" fmla="*/ 2540880 h 2540160"/>
              </a:gdLst>
              <a:ahLst/>
              <a:cxnLst/>
              <a:rect l="textAreaLeft" t="textAreaTop" r="textAreaRight" b="textAreaBottom"/>
              <a:pathLst>
                <a:path w="50800" h="338797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362579"/>
                  </a:lnTo>
                  <a:cubicBezTo>
                    <a:pt x="50800" y="3376549"/>
                    <a:pt x="39370" y="3387979"/>
                    <a:pt x="25400" y="3387979"/>
                  </a:cubicBezTo>
                  <a:cubicBezTo>
                    <a:pt x="11430" y="3387979"/>
                    <a:pt x="0" y="3376549"/>
                    <a:pt x="0" y="3362579"/>
                  </a:cubicBezTo>
                  <a:close/>
                </a:path>
              </a:pathLst>
            </a:cu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TextBox 22"/>
          <p:cNvSpPr/>
          <p:nvPr/>
        </p:nvSpPr>
        <p:spPr>
          <a:xfrm>
            <a:off x="12856680" y="4751640"/>
            <a:ext cx="4038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Permisos Granulares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3"/>
          <p:cNvSpPr/>
          <p:nvPr/>
        </p:nvSpPr>
        <p:spPr>
          <a:xfrm>
            <a:off x="12856680" y="5279040"/>
            <a:ext cx="4155120" cy="14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Creación de usuarios con control preciso de acceso a archivos y carpetas.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7" name="Group 24"/>
          <p:cNvGrpSpPr/>
          <p:nvPr/>
        </p:nvGrpSpPr>
        <p:grpSpPr>
          <a:xfrm>
            <a:off x="7850160" y="7018560"/>
            <a:ext cx="9444960" cy="1632960"/>
            <a:chOff x="7850160" y="7018560"/>
            <a:chExt cx="9444960" cy="1632960"/>
          </a:xfrm>
        </p:grpSpPr>
        <p:sp>
          <p:nvSpPr>
            <p:cNvPr id="198" name="Freeform 25"/>
            <p:cNvSpPr/>
            <p:nvPr/>
          </p:nvSpPr>
          <p:spPr>
            <a:xfrm>
              <a:off x="7850160" y="7018560"/>
              <a:ext cx="9444960" cy="1632960"/>
            </a:xfrm>
            <a:custGeom>
              <a:avLst/>
              <a:gdLst>
                <a:gd name="textAreaLeft" fmla="*/ 0 w 9444960"/>
                <a:gd name="textAreaRight" fmla="*/ 9445680 w 9444960"/>
                <a:gd name="textAreaTop" fmla="*/ 0 h 1632960"/>
                <a:gd name="textAreaBottom" fmla="*/ 1633680 h 1632960"/>
              </a:gdLst>
              <a:ahLst/>
              <a:cxnLst/>
              <a:rect l="textAreaLeft" t="textAreaTop" r="textAreaRight" b="textAreaBottom"/>
              <a:pathLst>
                <a:path w="12594082" h="2178304">
                  <a:moveTo>
                    <a:pt x="0" y="0"/>
                  </a:moveTo>
                  <a:lnTo>
                    <a:pt x="12594082" y="0"/>
                  </a:lnTo>
                  <a:lnTo>
                    <a:pt x="12594082" y="2178304"/>
                  </a:lnTo>
                  <a:lnTo>
                    <a:pt x="0" y="2178304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9" name="Group 26"/>
          <p:cNvGrpSpPr/>
          <p:nvPr/>
        </p:nvGrpSpPr>
        <p:grpSpPr>
          <a:xfrm>
            <a:off x="7850160" y="7018560"/>
            <a:ext cx="9444960" cy="37440"/>
            <a:chOff x="7850160" y="7018560"/>
            <a:chExt cx="9444960" cy="37440"/>
          </a:xfrm>
        </p:grpSpPr>
        <p:sp>
          <p:nvSpPr>
            <p:cNvPr id="200" name="Freeform 27"/>
            <p:cNvSpPr/>
            <p:nvPr/>
          </p:nvSpPr>
          <p:spPr>
            <a:xfrm>
              <a:off x="7850160" y="7018560"/>
              <a:ext cx="9444960" cy="37440"/>
            </a:xfrm>
            <a:custGeom>
              <a:avLst/>
              <a:gdLst>
                <a:gd name="textAreaLeft" fmla="*/ 0 w 9444960"/>
                <a:gd name="textAreaRight" fmla="*/ 9445680 w 9444960"/>
                <a:gd name="textAreaTop" fmla="*/ 0 h 37440"/>
                <a:gd name="textAreaBottom" fmla="*/ 38160 h 37440"/>
              </a:gdLst>
              <a:ahLst/>
              <a:cxnLst/>
              <a:rect l="textAreaLeft" t="textAreaTop" r="textAreaRight" b="textAreaBottom"/>
              <a:pathLst>
                <a:path w="12594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6840" rIns="90000" bIns="-684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TextBox 28"/>
          <p:cNvSpPr/>
          <p:nvPr/>
        </p:nvSpPr>
        <p:spPr>
          <a:xfrm>
            <a:off x="8133840" y="729288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Datos Locales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29"/>
          <p:cNvSpPr/>
          <p:nvPr/>
        </p:nvSpPr>
        <p:spPr>
          <a:xfrm>
            <a:off x="8133840" y="7819920"/>
            <a:ext cx="8877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Los datos nunca salen del servidor físico de la empresa.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04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5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06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7" name="Group 6"/>
          <p:cNvGrpSpPr/>
          <p:nvPr/>
        </p:nvGrpSpPr>
        <p:grpSpPr>
          <a:xfrm>
            <a:off x="992160" y="2007000"/>
            <a:ext cx="1548720" cy="532080"/>
            <a:chOff x="992160" y="2007000"/>
            <a:chExt cx="1548720" cy="532080"/>
          </a:xfrm>
        </p:grpSpPr>
        <p:sp>
          <p:nvSpPr>
            <p:cNvPr id="208" name="Freeform 7"/>
            <p:cNvSpPr/>
            <p:nvPr/>
          </p:nvSpPr>
          <p:spPr>
            <a:xfrm>
              <a:off x="992160" y="2007000"/>
              <a:ext cx="1548720" cy="532080"/>
            </a:xfrm>
            <a:custGeom>
              <a:avLst/>
              <a:gdLst>
                <a:gd name="textAreaLeft" fmla="*/ 0 w 1548720"/>
                <a:gd name="textAreaRight" fmla="*/ 1549440 w 1548720"/>
                <a:gd name="textAreaTop" fmla="*/ 0 h 532080"/>
                <a:gd name="textAreaBottom" fmla="*/ 532800 h 532080"/>
              </a:gdLst>
              <a:ahLst/>
              <a:cxnLst/>
              <a:rect l="textAreaLeft" t="textAreaTop" r="textAreaRight" b="textAreaBottom"/>
              <a:pathLst>
                <a:path w="2065909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020570" y="0"/>
                  </a:lnTo>
                  <a:cubicBezTo>
                    <a:pt x="2045589" y="0"/>
                    <a:pt x="2065909" y="20320"/>
                    <a:pt x="2065909" y="45339"/>
                  </a:cubicBezTo>
                  <a:lnTo>
                    <a:pt x="2065909" y="665099"/>
                  </a:lnTo>
                  <a:cubicBezTo>
                    <a:pt x="2065909" y="690118"/>
                    <a:pt x="2045589" y="710438"/>
                    <a:pt x="2020570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9" name="TextBox 8"/>
          <p:cNvSpPr/>
          <p:nvPr/>
        </p:nvSpPr>
        <p:spPr>
          <a:xfrm>
            <a:off x="1162440" y="2016000"/>
            <a:ext cx="2122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13"/>
              </a:lnSpc>
            </a:pPr>
            <a:r>
              <a:rPr lang="en-US" sz="17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SEGURIDAD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9"/>
          <p:cNvSpPr/>
          <p:nvPr/>
        </p:nvSpPr>
        <p:spPr>
          <a:xfrm>
            <a:off x="992160" y="2624760"/>
            <a:ext cx="16302960" cy="8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863"/>
              </a:lnSpc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Vaultwarden y Acceso Remoto</a:t>
            </a:r>
            <a:endParaRPr lang="es-ES" sz="5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1" name="Group 10"/>
          <p:cNvGrpSpPr/>
          <p:nvPr/>
        </p:nvGrpSpPr>
        <p:grpSpPr>
          <a:xfrm>
            <a:off x="973080" y="5256720"/>
            <a:ext cx="5282640" cy="3041640"/>
            <a:chOff x="973080" y="5256720"/>
            <a:chExt cx="5282640" cy="3041640"/>
          </a:xfrm>
        </p:grpSpPr>
        <p:sp>
          <p:nvSpPr>
            <p:cNvPr id="212" name="Freeform 11"/>
            <p:cNvSpPr/>
            <p:nvPr/>
          </p:nvSpPr>
          <p:spPr>
            <a:xfrm>
              <a:off x="973080" y="5256720"/>
              <a:ext cx="5282640" cy="3041640"/>
            </a:xfrm>
            <a:custGeom>
              <a:avLst/>
              <a:gdLst>
                <a:gd name="textAreaLeft" fmla="*/ 0 w 5282640"/>
                <a:gd name="textAreaRight" fmla="*/ 5283360 w 5282640"/>
                <a:gd name="textAreaTop" fmla="*/ 0 h 3041640"/>
                <a:gd name="textAreaBottom" fmla="*/ 3042360 h 3041640"/>
              </a:gdLst>
              <a:ahLst/>
              <a:cxnLst/>
              <a:rect l="textAreaLeft" t="textAreaTop" r="textAreaRight" b="textAreaBottom"/>
              <a:pathLst>
                <a:path w="7044690" h="405638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797802" y="0"/>
                  </a:lnTo>
                  <a:cubicBezTo>
                    <a:pt x="6934200" y="0"/>
                    <a:pt x="7044690" y="110490"/>
                    <a:pt x="7044690" y="246888"/>
                  </a:cubicBezTo>
                  <a:lnTo>
                    <a:pt x="7044690" y="3809492"/>
                  </a:lnTo>
                  <a:cubicBezTo>
                    <a:pt x="7044690" y="3945890"/>
                    <a:pt x="6934200" y="4056380"/>
                    <a:pt x="6797802" y="4056380"/>
                  </a:cubicBezTo>
                  <a:lnTo>
                    <a:pt x="246888" y="4056380"/>
                  </a:lnTo>
                  <a:cubicBezTo>
                    <a:pt x="110490" y="4056507"/>
                    <a:pt x="0" y="3945890"/>
                    <a:pt x="0" y="3809492"/>
                  </a:cubicBezTo>
                  <a:close/>
                </a:path>
              </a:pathLst>
            </a:custGeom>
            <a:solidFill>
              <a:srgbClr val="212121"/>
            </a:solidFill>
            <a:ln cap="sq" w="3810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3" name="Group 12"/>
          <p:cNvGrpSpPr/>
          <p:nvPr/>
        </p:nvGrpSpPr>
        <p:grpSpPr>
          <a:xfrm>
            <a:off x="992160" y="5237640"/>
            <a:ext cx="5244840" cy="151920"/>
            <a:chOff x="992160" y="5237640"/>
            <a:chExt cx="5244840" cy="151920"/>
          </a:xfrm>
        </p:grpSpPr>
        <p:sp>
          <p:nvSpPr>
            <p:cNvPr id="214" name="Freeform 13"/>
            <p:cNvSpPr/>
            <p:nvPr/>
          </p:nvSpPr>
          <p:spPr>
            <a:xfrm>
              <a:off x="992160" y="5237640"/>
              <a:ext cx="5244840" cy="15192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699401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5" name="Group 14"/>
          <p:cNvGrpSpPr/>
          <p:nvPr/>
        </p:nvGrpSpPr>
        <p:grpSpPr>
          <a:xfrm>
            <a:off x="3189600" y="4850280"/>
            <a:ext cx="849960" cy="849960"/>
            <a:chOff x="3189600" y="4850280"/>
            <a:chExt cx="849960" cy="849960"/>
          </a:xfrm>
        </p:grpSpPr>
        <p:sp>
          <p:nvSpPr>
            <p:cNvPr id="216" name="Freeform 15"/>
            <p:cNvSpPr/>
            <p:nvPr/>
          </p:nvSpPr>
          <p:spPr>
            <a:xfrm>
              <a:off x="3189600" y="4850280"/>
              <a:ext cx="849960" cy="849960"/>
            </a:xfrm>
            <a:custGeom>
              <a:avLst/>
              <a:gdLst>
                <a:gd name="textAreaLeft" fmla="*/ 0 w 849960"/>
                <a:gd name="textAreaRight" fmla="*/ 850680 w 849960"/>
                <a:gd name="textAreaTop" fmla="*/ 0 h 849960"/>
                <a:gd name="textAreaBottom" fmla="*/ 850680 h 849960"/>
              </a:gdLst>
              <a:ahLst/>
              <a:cxnLst/>
              <a:rect l="textAreaLeft" t="textAreaTop" r="textAreaRight" b="textAreaBottom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7" name="Group 16"/>
          <p:cNvGrpSpPr/>
          <p:nvPr/>
        </p:nvGrpSpPr>
        <p:grpSpPr>
          <a:xfrm>
            <a:off x="3444840" y="5063040"/>
            <a:ext cx="339480" cy="424440"/>
            <a:chOff x="3444840" y="5063040"/>
            <a:chExt cx="339480" cy="424440"/>
          </a:xfrm>
        </p:grpSpPr>
        <p:sp>
          <p:nvSpPr>
            <p:cNvPr id="218" name="Freeform 17"/>
            <p:cNvSpPr/>
            <p:nvPr/>
          </p:nvSpPr>
          <p:spPr>
            <a:xfrm>
              <a:off x="3444840" y="5063040"/>
              <a:ext cx="339480" cy="424440"/>
            </a:xfrm>
            <a:custGeom>
              <a:avLst/>
              <a:gdLst>
                <a:gd name="textAreaLeft" fmla="*/ 0 w 339480"/>
                <a:gd name="textAreaRight" fmla="*/ 340200 w 339480"/>
                <a:gd name="textAreaTop" fmla="*/ 0 h 424440"/>
                <a:gd name="textAreaBottom" fmla="*/ 425160 h 424440"/>
              </a:gdLst>
              <a:ahLst/>
              <a:cxnLst/>
              <a:rect l="textAreaLeft" t="textAreaTop" r="textAreaRight" b="textAreaBottom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Box 18"/>
            <p:cNvSpPr/>
            <p:nvPr/>
          </p:nvSpPr>
          <p:spPr>
            <a:xfrm>
              <a:off x="3444840" y="5063040"/>
              <a:ext cx="339480" cy="4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121"/>
                </a:lnSpc>
              </a:pPr>
              <a:r>
                <a:rPr lang="en-US" sz="2600" b="1" u="none" strike="noStrike">
                  <a:solidFill>
                    <a:srgbClr val="000000"/>
                  </a:solidFill>
                  <a:effectLst/>
                  <a:uFillTx/>
                  <a:latin typeface="Roboto Mono Medium"/>
                  <a:ea typeface="Roboto Mono Medium"/>
                </a:rPr>
                <a:t>1</a:t>
              </a:r>
              <a:endParaRPr lang="es-ES" sz="2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0" name="TextBox 19"/>
          <p:cNvSpPr/>
          <p:nvPr/>
        </p:nvSpPr>
        <p:spPr>
          <a:xfrm>
            <a:off x="1842840" y="597492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El Problema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0"/>
          <p:cNvSpPr/>
          <p:nvPr/>
        </p:nvSpPr>
        <p:spPr>
          <a:xfrm>
            <a:off x="1314000" y="6502320"/>
            <a:ext cx="460152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La API web de Vaultwarden exige conexión </a:t>
            </a: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Bold"/>
                <a:ea typeface="Roboto Bold"/>
              </a:rPr>
              <a:t>HTTPS</a:t>
            </a: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 (Contexto Seguro).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2" name="Group 21"/>
          <p:cNvGrpSpPr/>
          <p:nvPr/>
        </p:nvGrpSpPr>
        <p:grpSpPr>
          <a:xfrm>
            <a:off x="6502320" y="5256720"/>
            <a:ext cx="5282640" cy="3041640"/>
            <a:chOff x="6502320" y="5256720"/>
            <a:chExt cx="5282640" cy="3041640"/>
          </a:xfrm>
        </p:grpSpPr>
        <p:sp>
          <p:nvSpPr>
            <p:cNvPr id="223" name="Freeform 22"/>
            <p:cNvSpPr/>
            <p:nvPr/>
          </p:nvSpPr>
          <p:spPr>
            <a:xfrm>
              <a:off x="6502320" y="5256720"/>
              <a:ext cx="5282640" cy="3041640"/>
            </a:xfrm>
            <a:custGeom>
              <a:avLst/>
              <a:gdLst>
                <a:gd name="textAreaLeft" fmla="*/ 0 w 5282640"/>
                <a:gd name="textAreaRight" fmla="*/ 5283360 w 5282640"/>
                <a:gd name="textAreaTop" fmla="*/ 0 h 3041640"/>
                <a:gd name="textAreaBottom" fmla="*/ 3042360 h 3041640"/>
              </a:gdLst>
              <a:ahLst/>
              <a:cxnLst/>
              <a:rect l="textAreaLeft" t="textAreaTop" r="textAreaRight" b="textAreaBottom"/>
              <a:pathLst>
                <a:path w="7044690" h="405638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797802" y="0"/>
                  </a:lnTo>
                  <a:cubicBezTo>
                    <a:pt x="6934200" y="0"/>
                    <a:pt x="7044690" y="110490"/>
                    <a:pt x="7044690" y="246888"/>
                  </a:cubicBezTo>
                  <a:lnTo>
                    <a:pt x="7044690" y="3809492"/>
                  </a:lnTo>
                  <a:cubicBezTo>
                    <a:pt x="7044690" y="3945890"/>
                    <a:pt x="6934200" y="4056380"/>
                    <a:pt x="6797802" y="4056380"/>
                  </a:cubicBezTo>
                  <a:lnTo>
                    <a:pt x="246888" y="4056380"/>
                  </a:lnTo>
                  <a:cubicBezTo>
                    <a:pt x="110490" y="4056507"/>
                    <a:pt x="0" y="3945890"/>
                    <a:pt x="0" y="3809492"/>
                  </a:cubicBezTo>
                  <a:close/>
                </a:path>
              </a:pathLst>
            </a:custGeom>
            <a:solidFill>
              <a:srgbClr val="212121"/>
            </a:solidFill>
            <a:ln cap="sq" w="3810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" name="Group 23"/>
          <p:cNvGrpSpPr/>
          <p:nvPr/>
        </p:nvGrpSpPr>
        <p:grpSpPr>
          <a:xfrm>
            <a:off x="6521040" y="5237640"/>
            <a:ext cx="5244840" cy="151920"/>
            <a:chOff x="6521040" y="5237640"/>
            <a:chExt cx="5244840" cy="151920"/>
          </a:xfrm>
        </p:grpSpPr>
        <p:sp>
          <p:nvSpPr>
            <p:cNvPr id="225" name="Freeform 24"/>
            <p:cNvSpPr/>
            <p:nvPr/>
          </p:nvSpPr>
          <p:spPr>
            <a:xfrm>
              <a:off x="6521040" y="5237640"/>
              <a:ext cx="5244840" cy="15192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699401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6" name="Group 25"/>
          <p:cNvGrpSpPr/>
          <p:nvPr/>
        </p:nvGrpSpPr>
        <p:grpSpPr>
          <a:xfrm>
            <a:off x="8718480" y="4850280"/>
            <a:ext cx="849960" cy="849960"/>
            <a:chOff x="8718480" y="4850280"/>
            <a:chExt cx="849960" cy="849960"/>
          </a:xfrm>
        </p:grpSpPr>
        <p:sp>
          <p:nvSpPr>
            <p:cNvPr id="227" name="Freeform 26"/>
            <p:cNvSpPr/>
            <p:nvPr/>
          </p:nvSpPr>
          <p:spPr>
            <a:xfrm>
              <a:off x="8718480" y="4850280"/>
              <a:ext cx="849960" cy="849960"/>
            </a:xfrm>
            <a:custGeom>
              <a:avLst/>
              <a:gdLst>
                <a:gd name="textAreaLeft" fmla="*/ 0 w 849960"/>
                <a:gd name="textAreaRight" fmla="*/ 850680 w 849960"/>
                <a:gd name="textAreaTop" fmla="*/ 0 h 849960"/>
                <a:gd name="textAreaBottom" fmla="*/ 850680 h 849960"/>
              </a:gdLst>
              <a:ahLst/>
              <a:cxnLst/>
              <a:rect l="textAreaLeft" t="textAreaTop" r="textAreaRight" b="textAreaBottom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8" name="Group 27"/>
          <p:cNvGrpSpPr/>
          <p:nvPr/>
        </p:nvGrpSpPr>
        <p:grpSpPr>
          <a:xfrm>
            <a:off x="8973720" y="5063040"/>
            <a:ext cx="339480" cy="424440"/>
            <a:chOff x="8973720" y="5063040"/>
            <a:chExt cx="339480" cy="424440"/>
          </a:xfrm>
        </p:grpSpPr>
        <p:sp>
          <p:nvSpPr>
            <p:cNvPr id="229" name="Freeform 28"/>
            <p:cNvSpPr/>
            <p:nvPr/>
          </p:nvSpPr>
          <p:spPr>
            <a:xfrm>
              <a:off x="8973720" y="5063040"/>
              <a:ext cx="339480" cy="424440"/>
            </a:xfrm>
            <a:custGeom>
              <a:avLst/>
              <a:gdLst>
                <a:gd name="textAreaLeft" fmla="*/ 0 w 339480"/>
                <a:gd name="textAreaRight" fmla="*/ 340200 w 339480"/>
                <a:gd name="textAreaTop" fmla="*/ 0 h 424440"/>
                <a:gd name="textAreaBottom" fmla="*/ 425160 h 424440"/>
              </a:gdLst>
              <a:ahLst/>
              <a:cxnLst/>
              <a:rect l="textAreaLeft" t="textAreaTop" r="textAreaRight" b="textAreaBottom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TextBox 29"/>
            <p:cNvSpPr/>
            <p:nvPr/>
          </p:nvSpPr>
          <p:spPr>
            <a:xfrm>
              <a:off x="8973720" y="5063040"/>
              <a:ext cx="339480" cy="4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121"/>
                </a:lnSpc>
              </a:pPr>
              <a:r>
                <a:rPr lang="en-US" sz="2600" b="1" u="none" strike="noStrike">
                  <a:solidFill>
                    <a:srgbClr val="000000"/>
                  </a:solidFill>
                  <a:effectLst/>
                  <a:uFillTx/>
                  <a:latin typeface="Roboto Mono Medium"/>
                  <a:ea typeface="Roboto Mono Medium"/>
                </a:rPr>
                <a:t>2</a:t>
              </a:r>
              <a:endParaRPr lang="es-ES" sz="2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1" name="TextBox 30"/>
          <p:cNvSpPr/>
          <p:nvPr/>
        </p:nvSpPr>
        <p:spPr>
          <a:xfrm>
            <a:off x="7372080" y="597492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El Bloqueo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1"/>
          <p:cNvSpPr/>
          <p:nvPr/>
        </p:nvSpPr>
        <p:spPr>
          <a:xfrm>
            <a:off x="6842880" y="6502320"/>
            <a:ext cx="460152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Certificados autofirmados generan conflictos en entornos locales.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3" name="Group 32"/>
          <p:cNvGrpSpPr/>
          <p:nvPr/>
        </p:nvGrpSpPr>
        <p:grpSpPr>
          <a:xfrm>
            <a:off x="12031200" y="5256720"/>
            <a:ext cx="5282640" cy="3041640"/>
            <a:chOff x="12031200" y="5256720"/>
            <a:chExt cx="5282640" cy="3041640"/>
          </a:xfrm>
        </p:grpSpPr>
        <p:sp>
          <p:nvSpPr>
            <p:cNvPr id="234" name="Freeform 33"/>
            <p:cNvSpPr/>
            <p:nvPr/>
          </p:nvSpPr>
          <p:spPr>
            <a:xfrm>
              <a:off x="12031200" y="5256720"/>
              <a:ext cx="5282640" cy="3041640"/>
            </a:xfrm>
            <a:custGeom>
              <a:avLst/>
              <a:gdLst>
                <a:gd name="textAreaLeft" fmla="*/ 0 w 5282640"/>
                <a:gd name="textAreaRight" fmla="*/ 5283360 w 5282640"/>
                <a:gd name="textAreaTop" fmla="*/ 0 h 3041640"/>
                <a:gd name="textAreaBottom" fmla="*/ 3042360 h 3041640"/>
              </a:gdLst>
              <a:ahLst/>
              <a:cxnLst/>
              <a:rect l="textAreaLeft" t="textAreaTop" r="textAreaRight" b="textAreaBottom"/>
              <a:pathLst>
                <a:path w="7044690" h="405638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797802" y="0"/>
                  </a:lnTo>
                  <a:cubicBezTo>
                    <a:pt x="6934200" y="0"/>
                    <a:pt x="7044690" y="110490"/>
                    <a:pt x="7044690" y="246888"/>
                  </a:cubicBezTo>
                  <a:lnTo>
                    <a:pt x="7044690" y="3809492"/>
                  </a:lnTo>
                  <a:cubicBezTo>
                    <a:pt x="7044690" y="3945890"/>
                    <a:pt x="6934200" y="4056380"/>
                    <a:pt x="6797802" y="4056380"/>
                  </a:cubicBezTo>
                  <a:lnTo>
                    <a:pt x="246888" y="4056380"/>
                  </a:lnTo>
                  <a:cubicBezTo>
                    <a:pt x="110490" y="4056507"/>
                    <a:pt x="0" y="3945890"/>
                    <a:pt x="0" y="3809492"/>
                  </a:cubicBezTo>
                  <a:close/>
                </a:path>
              </a:pathLst>
            </a:custGeom>
            <a:solidFill>
              <a:srgbClr val="212121"/>
            </a:solidFill>
            <a:ln cap="sq" w="38100">
              <a:solidFill>
                <a:srgbClr val="5959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5" name="Group 34"/>
          <p:cNvGrpSpPr/>
          <p:nvPr/>
        </p:nvGrpSpPr>
        <p:grpSpPr>
          <a:xfrm>
            <a:off x="12050280" y="5237640"/>
            <a:ext cx="5244840" cy="151920"/>
            <a:chOff x="12050280" y="5237640"/>
            <a:chExt cx="5244840" cy="151920"/>
          </a:xfrm>
        </p:grpSpPr>
        <p:sp>
          <p:nvSpPr>
            <p:cNvPr id="236" name="Freeform 35"/>
            <p:cNvSpPr/>
            <p:nvPr/>
          </p:nvSpPr>
          <p:spPr>
            <a:xfrm>
              <a:off x="12050280" y="5237640"/>
              <a:ext cx="5244840" cy="15192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699401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7" name="Group 36"/>
          <p:cNvGrpSpPr/>
          <p:nvPr/>
        </p:nvGrpSpPr>
        <p:grpSpPr>
          <a:xfrm>
            <a:off x="14247720" y="4850280"/>
            <a:ext cx="849960" cy="849960"/>
            <a:chOff x="14247720" y="4850280"/>
            <a:chExt cx="849960" cy="849960"/>
          </a:xfrm>
        </p:grpSpPr>
        <p:sp>
          <p:nvSpPr>
            <p:cNvPr id="238" name="Freeform 37"/>
            <p:cNvSpPr/>
            <p:nvPr/>
          </p:nvSpPr>
          <p:spPr>
            <a:xfrm>
              <a:off x="14247720" y="4850280"/>
              <a:ext cx="849960" cy="849960"/>
            </a:xfrm>
            <a:custGeom>
              <a:avLst/>
              <a:gdLst>
                <a:gd name="textAreaLeft" fmla="*/ 0 w 849960"/>
                <a:gd name="textAreaRight" fmla="*/ 850680 w 849960"/>
                <a:gd name="textAreaTop" fmla="*/ 0 h 849960"/>
                <a:gd name="textAreaBottom" fmla="*/ 850680 h 849960"/>
              </a:gdLst>
              <a:ahLst/>
              <a:cxnLst/>
              <a:rect l="textAreaLeft" t="textAreaTop" r="textAreaRight" b="textAreaBottom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CF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9" name="Group 38"/>
          <p:cNvGrpSpPr/>
          <p:nvPr/>
        </p:nvGrpSpPr>
        <p:grpSpPr>
          <a:xfrm>
            <a:off x="14502600" y="5063040"/>
            <a:ext cx="339480" cy="424440"/>
            <a:chOff x="14502600" y="5063040"/>
            <a:chExt cx="339480" cy="424440"/>
          </a:xfrm>
        </p:grpSpPr>
        <p:sp>
          <p:nvSpPr>
            <p:cNvPr id="240" name="Freeform 39"/>
            <p:cNvSpPr/>
            <p:nvPr/>
          </p:nvSpPr>
          <p:spPr>
            <a:xfrm>
              <a:off x="14502600" y="5063040"/>
              <a:ext cx="339480" cy="424440"/>
            </a:xfrm>
            <a:custGeom>
              <a:avLst/>
              <a:gdLst>
                <a:gd name="textAreaLeft" fmla="*/ 0 w 339480"/>
                <a:gd name="textAreaRight" fmla="*/ 340200 w 339480"/>
                <a:gd name="textAreaTop" fmla="*/ 0 h 424440"/>
                <a:gd name="textAreaBottom" fmla="*/ 425160 h 424440"/>
              </a:gdLst>
              <a:ahLst/>
              <a:cxnLst/>
              <a:rect l="textAreaLeft" t="textAreaTop" r="textAreaRight" b="textAreaBottom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TextBox 40"/>
            <p:cNvSpPr/>
            <p:nvPr/>
          </p:nvSpPr>
          <p:spPr>
            <a:xfrm>
              <a:off x="14502600" y="5063040"/>
              <a:ext cx="339480" cy="4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121"/>
                </a:lnSpc>
              </a:pPr>
              <a:r>
                <a:rPr lang="en-US" sz="2600" b="1" u="none" strike="noStrike">
                  <a:solidFill>
                    <a:srgbClr val="000000"/>
                  </a:solidFill>
                  <a:effectLst/>
                  <a:uFillTx/>
                  <a:latin typeface="Roboto Mono Medium"/>
                  <a:ea typeface="Roboto Mono Medium"/>
                </a:rPr>
                <a:t>3</a:t>
              </a:r>
              <a:endParaRPr lang="es-ES" sz="2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2" name="TextBox 41"/>
          <p:cNvSpPr/>
          <p:nvPr/>
        </p:nvSpPr>
        <p:spPr>
          <a:xfrm>
            <a:off x="12900960" y="597492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La Solución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42"/>
          <p:cNvSpPr/>
          <p:nvPr/>
        </p:nvSpPr>
        <p:spPr>
          <a:xfrm>
            <a:off x="12371760" y="6502320"/>
            <a:ext cx="4601520" cy="14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512"/>
              </a:lnSpc>
            </a:pP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Bold"/>
                <a:ea typeface="Roboto Bold"/>
              </a:rPr>
              <a:t>Cloudflare Tunnels</a:t>
            </a: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: conexión cifrada sin abrir puertos en el firewall.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45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6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47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8" name="Group 6"/>
          <p:cNvGrpSpPr/>
          <p:nvPr/>
        </p:nvGrpSpPr>
        <p:grpSpPr>
          <a:xfrm>
            <a:off x="992160" y="3404520"/>
            <a:ext cx="970920" cy="532080"/>
            <a:chOff x="992160" y="3404520"/>
            <a:chExt cx="970920" cy="532080"/>
          </a:xfrm>
        </p:grpSpPr>
        <p:sp>
          <p:nvSpPr>
            <p:cNvPr id="249" name="Freeform 7"/>
            <p:cNvSpPr/>
            <p:nvPr/>
          </p:nvSpPr>
          <p:spPr>
            <a:xfrm>
              <a:off x="992160" y="3404520"/>
              <a:ext cx="970920" cy="532080"/>
            </a:xfrm>
            <a:custGeom>
              <a:avLst/>
              <a:gdLst>
                <a:gd name="textAreaLeft" fmla="*/ 0 w 970920"/>
                <a:gd name="textAreaRight" fmla="*/ 971640 w 970920"/>
                <a:gd name="textAreaTop" fmla="*/ 0 h 532080"/>
                <a:gd name="textAreaBottom" fmla="*/ 532800 h 532080"/>
              </a:gdLst>
              <a:ahLst/>
              <a:cxnLst/>
              <a:rect l="textAreaLeft" t="textAreaTop" r="textAreaRight" b="textAreaBottom"/>
              <a:pathLst>
                <a:path w="1295527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250188" y="0"/>
                  </a:lnTo>
                  <a:cubicBezTo>
                    <a:pt x="1275207" y="0"/>
                    <a:pt x="1295527" y="20320"/>
                    <a:pt x="1295527" y="45339"/>
                  </a:cubicBezTo>
                  <a:lnTo>
                    <a:pt x="1295527" y="665099"/>
                  </a:lnTo>
                  <a:cubicBezTo>
                    <a:pt x="1295527" y="690118"/>
                    <a:pt x="1275207" y="710438"/>
                    <a:pt x="1250188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0" name="TextBox 8"/>
          <p:cNvSpPr/>
          <p:nvPr/>
        </p:nvSpPr>
        <p:spPr>
          <a:xfrm>
            <a:off x="1162440" y="3413520"/>
            <a:ext cx="1545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13"/>
              </a:lnSpc>
            </a:pPr>
            <a:r>
              <a:rPr lang="en-US" sz="17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DEMO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9"/>
          <p:cNvSpPr/>
          <p:nvPr/>
        </p:nvSpPr>
        <p:spPr>
          <a:xfrm>
            <a:off x="992160" y="4022280"/>
            <a:ext cx="11120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863"/>
              </a:lnSpc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Demostración del Entorno</a:t>
            </a:r>
            <a:endParaRPr lang="es-ES" sz="5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Freeform 10" descr="preencoded.png"/>
          <p:cNvSpPr/>
          <p:nvPr/>
        </p:nvSpPr>
        <p:spPr>
          <a:xfrm>
            <a:off x="992160" y="5361840"/>
            <a:ext cx="708120" cy="708120"/>
          </a:xfrm>
          <a:custGeom>
            <a:avLst/>
            <a:gdLst>
              <a:gd name="textAreaLeft" fmla="*/ 0 w 708120"/>
              <a:gd name="textAreaRight" fmla="*/ 708840 w 708120"/>
              <a:gd name="textAreaTop" fmla="*/ 0 h 708120"/>
              <a:gd name="textAreaBottom" fmla="*/ 708840 h 708120"/>
            </a:gdLst>
            <a:ahLst/>
            <a:cxnLst/>
            <a:rect l="textAreaLeft" t="textAreaTop" r="textAreaRight" b="textAreaBottom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1"/>
          <p:cNvSpPr/>
          <p:nvPr/>
        </p:nvSpPr>
        <p:spPr>
          <a:xfrm>
            <a:off x="2055240" y="535248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Nextcloud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2"/>
          <p:cNvSpPr/>
          <p:nvPr/>
        </p:nvSpPr>
        <p:spPr>
          <a:xfrm>
            <a:off x="2055240" y="5879880"/>
            <a:ext cx="41346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Subida de archivos corporativos.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Freeform 13" descr="preencoded.png"/>
          <p:cNvSpPr/>
          <p:nvPr/>
        </p:nvSpPr>
        <p:spPr>
          <a:xfrm>
            <a:off x="6544800" y="5361840"/>
            <a:ext cx="708120" cy="708120"/>
          </a:xfrm>
          <a:custGeom>
            <a:avLst/>
            <a:gdLst>
              <a:gd name="textAreaLeft" fmla="*/ 0 w 708120"/>
              <a:gd name="textAreaRight" fmla="*/ 708840 w 708120"/>
              <a:gd name="textAreaTop" fmla="*/ 0 h 708120"/>
              <a:gd name="textAreaBottom" fmla="*/ 708840 h 708120"/>
            </a:gdLst>
            <a:ahLst/>
            <a:cxnLst/>
            <a:rect l="textAreaLeft" t="textAreaTop" r="textAreaRight" b="textAreaBottom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4"/>
          <p:cNvSpPr/>
          <p:nvPr/>
        </p:nvSpPr>
        <p:spPr>
          <a:xfrm>
            <a:off x="7607880" y="535248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Vaultwarden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5"/>
          <p:cNvSpPr/>
          <p:nvPr/>
        </p:nvSpPr>
        <p:spPr>
          <a:xfrm>
            <a:off x="7607880" y="5879880"/>
            <a:ext cx="41346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Gestión segura de credenciales.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Freeform 16" descr="preencoded.png"/>
          <p:cNvSpPr/>
          <p:nvPr/>
        </p:nvSpPr>
        <p:spPr>
          <a:xfrm>
            <a:off x="12097440" y="5361840"/>
            <a:ext cx="708120" cy="708120"/>
          </a:xfrm>
          <a:custGeom>
            <a:avLst/>
            <a:gdLst>
              <a:gd name="textAreaLeft" fmla="*/ 0 w 708120"/>
              <a:gd name="textAreaRight" fmla="*/ 708840 w 708120"/>
              <a:gd name="textAreaTop" fmla="*/ 0 h 708120"/>
              <a:gd name="textAreaBottom" fmla="*/ 708840 h 708120"/>
            </a:gdLst>
            <a:ahLst/>
            <a:cxnLst/>
            <a:rect l="textAreaLeft" t="textAreaTop" r="textAreaRight" b="textAreaBottom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7"/>
          <p:cNvSpPr/>
          <p:nvPr/>
        </p:nvSpPr>
        <p:spPr>
          <a:xfrm>
            <a:off x="13160520" y="5352480"/>
            <a:ext cx="354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Nginx Proxy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8"/>
          <p:cNvSpPr/>
          <p:nvPr/>
        </p:nvSpPr>
        <p:spPr>
          <a:xfrm>
            <a:off x="13160520" y="5879880"/>
            <a:ext cx="41346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Enrutamiento.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62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3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64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5" name="Group 6"/>
          <p:cNvGrpSpPr/>
          <p:nvPr/>
        </p:nvGrpSpPr>
        <p:grpSpPr>
          <a:xfrm>
            <a:off x="992160" y="1036440"/>
            <a:ext cx="1499040" cy="532080"/>
            <a:chOff x="992160" y="1036440"/>
            <a:chExt cx="1499040" cy="532080"/>
          </a:xfrm>
        </p:grpSpPr>
        <p:sp>
          <p:nvSpPr>
            <p:cNvPr id="266" name="Freeform 7"/>
            <p:cNvSpPr/>
            <p:nvPr/>
          </p:nvSpPr>
          <p:spPr>
            <a:xfrm>
              <a:off x="992160" y="1036440"/>
              <a:ext cx="1499040" cy="532080"/>
            </a:xfrm>
            <a:custGeom>
              <a:avLst/>
              <a:gdLst>
                <a:gd name="textAreaLeft" fmla="*/ 0 w 1499040"/>
                <a:gd name="textAreaRight" fmla="*/ 1499760 w 1499040"/>
                <a:gd name="textAreaTop" fmla="*/ 0 h 532080"/>
                <a:gd name="textAreaBottom" fmla="*/ 532800 h 532080"/>
              </a:gdLst>
              <a:ahLst/>
              <a:cxnLst/>
              <a:rect l="textAreaLeft" t="textAreaTop" r="textAreaRight" b="textAreaBottom"/>
              <a:pathLst>
                <a:path w="1999488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954149" y="0"/>
                  </a:lnTo>
                  <a:cubicBezTo>
                    <a:pt x="1979168" y="0"/>
                    <a:pt x="1999488" y="20320"/>
                    <a:pt x="1999488" y="45339"/>
                  </a:cubicBezTo>
                  <a:lnTo>
                    <a:pt x="1999488" y="665099"/>
                  </a:lnTo>
                  <a:cubicBezTo>
                    <a:pt x="1999488" y="690118"/>
                    <a:pt x="1979168" y="710438"/>
                    <a:pt x="1954149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7" name="TextBox 8"/>
          <p:cNvSpPr/>
          <p:nvPr/>
        </p:nvSpPr>
        <p:spPr>
          <a:xfrm>
            <a:off x="1162440" y="1045080"/>
            <a:ext cx="207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13"/>
              </a:lnSpc>
            </a:pPr>
            <a:r>
              <a:rPr lang="en-US" sz="17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ECONOMÍA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9"/>
          <p:cNvSpPr/>
          <p:nvPr/>
        </p:nvSpPr>
        <p:spPr>
          <a:xfrm>
            <a:off x="992160" y="1654200"/>
            <a:ext cx="15373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863"/>
              </a:lnSpc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Presupuesto y Viabilidad Económica</a:t>
            </a:r>
            <a:endParaRPr lang="es-ES" sz="5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9" name="Group 10"/>
          <p:cNvGrpSpPr/>
          <p:nvPr/>
        </p:nvGrpSpPr>
        <p:grpSpPr>
          <a:xfrm>
            <a:off x="992160" y="3312720"/>
            <a:ext cx="7805160" cy="5618160"/>
            <a:chOff x="992160" y="3312720"/>
            <a:chExt cx="7805160" cy="5618160"/>
          </a:xfrm>
        </p:grpSpPr>
        <p:sp>
          <p:nvSpPr>
            <p:cNvPr id="270" name="Freeform 11" descr="preencoded.png"/>
            <p:cNvSpPr/>
            <p:nvPr/>
          </p:nvSpPr>
          <p:spPr>
            <a:xfrm>
              <a:off x="992160" y="3312720"/>
              <a:ext cx="7805160" cy="5618160"/>
            </a:xfrm>
            <a:custGeom>
              <a:avLst/>
              <a:gdLst>
                <a:gd name="textAreaLeft" fmla="*/ 0 w 7805160"/>
                <a:gd name="textAreaRight" fmla="*/ 7805880 w 7805160"/>
                <a:gd name="textAreaTop" fmla="*/ 0 h 5618160"/>
                <a:gd name="textAreaBottom" fmla="*/ 5618880 h 5618160"/>
              </a:gdLst>
              <a:ahLst/>
              <a:cxnLst/>
              <a:rect l="textAreaLeft" t="textAreaTop" r="textAreaRight" b="textAreaBottom"/>
              <a:pathLst>
                <a:path w="10407904" h="7491603">
                  <a:moveTo>
                    <a:pt x="0" y="0"/>
                  </a:moveTo>
                  <a:lnTo>
                    <a:pt x="10407904" y="0"/>
                  </a:lnTo>
                  <a:lnTo>
                    <a:pt x="10407904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1" name="Freeform 12" descr="preencoded.png"/>
          <p:cNvSpPr/>
          <p:nvPr/>
        </p:nvSpPr>
        <p:spPr>
          <a:xfrm>
            <a:off x="9461160" y="3274560"/>
            <a:ext cx="3763080" cy="2162880"/>
          </a:xfrm>
          <a:custGeom>
            <a:avLst/>
            <a:gdLst>
              <a:gd name="textAreaLeft" fmla="*/ 0 w 3763080"/>
              <a:gd name="textAreaRight" fmla="*/ 3763800 w 3763080"/>
              <a:gd name="textAreaTop" fmla="*/ 0 h 2162880"/>
              <a:gd name="textAreaBottom" fmla="*/ 2163600 h 2162880"/>
            </a:gdLst>
            <a:ahLst/>
            <a:cxnLst/>
            <a:rect l="textAreaLeft" t="textAreaTop" r="textAreaRight" b="textAreaBottom"/>
            <a:pathLst>
              <a:path w="3763861" h="2163518">
                <a:moveTo>
                  <a:pt x="0" y="0"/>
                </a:moveTo>
                <a:lnTo>
                  <a:pt x="3763861" y="0"/>
                </a:lnTo>
                <a:lnTo>
                  <a:pt x="3763861" y="2163518"/>
                </a:lnTo>
                <a:lnTo>
                  <a:pt x="0" y="21635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3"/>
          <p:cNvSpPr/>
          <p:nvPr/>
        </p:nvSpPr>
        <p:spPr>
          <a:xfrm>
            <a:off x="9858960" y="3303360"/>
            <a:ext cx="33652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Inversión Única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4"/>
          <p:cNvSpPr/>
          <p:nvPr/>
        </p:nvSpPr>
        <p:spPr>
          <a:xfrm>
            <a:off x="9858960" y="3943800"/>
            <a:ext cx="336528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Bold"/>
                <a:ea typeface="Roboto Bold"/>
              </a:rPr>
              <a:t>650 €</a:t>
            </a: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 en hardware propio: inversión en la empresa.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Freeform 15" descr="preencoded.png"/>
          <p:cNvSpPr/>
          <p:nvPr/>
        </p:nvSpPr>
        <p:spPr>
          <a:xfrm>
            <a:off x="13541400" y="3274560"/>
            <a:ext cx="3763080" cy="2162880"/>
          </a:xfrm>
          <a:custGeom>
            <a:avLst/>
            <a:gdLst>
              <a:gd name="textAreaLeft" fmla="*/ 0 w 3763080"/>
              <a:gd name="textAreaRight" fmla="*/ 3763800 w 3763080"/>
              <a:gd name="textAreaTop" fmla="*/ 0 h 2162880"/>
              <a:gd name="textAreaBottom" fmla="*/ 2163600 h 2162880"/>
            </a:gdLst>
            <a:ahLst/>
            <a:cxnLst/>
            <a:rect l="textAreaLeft" t="textAreaTop" r="textAreaRight" b="textAreaBottom"/>
            <a:pathLst>
              <a:path w="3763861" h="2163518">
                <a:moveTo>
                  <a:pt x="0" y="0"/>
                </a:moveTo>
                <a:lnTo>
                  <a:pt x="3763861" y="0"/>
                </a:lnTo>
                <a:lnTo>
                  <a:pt x="3763861" y="2163518"/>
                </a:lnTo>
                <a:lnTo>
                  <a:pt x="0" y="21635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6"/>
          <p:cNvSpPr/>
          <p:nvPr/>
        </p:nvSpPr>
        <p:spPr>
          <a:xfrm>
            <a:off x="13939200" y="3303360"/>
            <a:ext cx="33652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Software Libre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7"/>
          <p:cNvSpPr/>
          <p:nvPr/>
        </p:nvSpPr>
        <p:spPr>
          <a:xfrm>
            <a:off x="13939200" y="3943800"/>
            <a:ext cx="3365280" cy="14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1" u="none" strike="noStrike">
                <a:solidFill>
                  <a:srgbClr val="E5E0DF"/>
                </a:solidFill>
                <a:effectLst/>
                <a:uFillTx/>
                <a:latin typeface="Roboto Bold"/>
                <a:ea typeface="Roboto Bold"/>
              </a:rPr>
              <a:t>0 €</a:t>
            </a: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 en licencias. Docker, Nextcloud y Vaultwarden son Open Source.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Freeform 18" descr="preencoded.png"/>
          <p:cNvSpPr/>
          <p:nvPr/>
        </p:nvSpPr>
        <p:spPr>
          <a:xfrm>
            <a:off x="9461160" y="5928840"/>
            <a:ext cx="7843320" cy="1709280"/>
          </a:xfrm>
          <a:custGeom>
            <a:avLst/>
            <a:gdLst>
              <a:gd name="textAreaLeft" fmla="*/ 0 w 7843320"/>
              <a:gd name="textAreaRight" fmla="*/ 7844040 w 7843320"/>
              <a:gd name="textAreaTop" fmla="*/ 0 h 1709280"/>
              <a:gd name="textAreaBottom" fmla="*/ 1710000 h 1709280"/>
            </a:gdLst>
            <a:ahLst/>
            <a:cxnLst/>
            <a:rect l="textAreaLeft" t="textAreaTop" r="textAreaRight" b="textAreaBottom"/>
            <a:pathLst>
              <a:path w="7843990" h="1709890">
                <a:moveTo>
                  <a:pt x="0" y="0"/>
                </a:moveTo>
                <a:lnTo>
                  <a:pt x="7843990" y="0"/>
                </a:lnTo>
                <a:lnTo>
                  <a:pt x="7843990" y="1709890"/>
                </a:lnTo>
                <a:lnTo>
                  <a:pt x="0" y="1709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9"/>
          <p:cNvSpPr/>
          <p:nvPr/>
        </p:nvSpPr>
        <p:spPr>
          <a:xfrm>
            <a:off x="9858960" y="5957640"/>
            <a:ext cx="4038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Amortización Rápida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0"/>
          <p:cNvSpPr/>
          <p:nvPr/>
        </p:nvSpPr>
        <p:spPr>
          <a:xfrm>
            <a:off x="9858960" y="6598440"/>
            <a:ext cx="744552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Coste mínimo frente a suscripciones SaaS mensuales recurrentes.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81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2" name="Group 6"/>
          <p:cNvGrpSpPr/>
          <p:nvPr/>
        </p:nvGrpSpPr>
        <p:grpSpPr>
          <a:xfrm>
            <a:off x="992160" y="2396880"/>
            <a:ext cx="1992600" cy="532080"/>
            <a:chOff x="992160" y="2396880"/>
            <a:chExt cx="1992600" cy="532080"/>
          </a:xfrm>
        </p:grpSpPr>
        <p:sp>
          <p:nvSpPr>
            <p:cNvPr id="283" name="Freeform 7"/>
            <p:cNvSpPr/>
            <p:nvPr/>
          </p:nvSpPr>
          <p:spPr>
            <a:xfrm>
              <a:off x="992160" y="2396880"/>
              <a:ext cx="1992600" cy="532080"/>
            </a:xfrm>
            <a:custGeom>
              <a:avLst/>
              <a:gdLst>
                <a:gd name="textAreaLeft" fmla="*/ 0 w 1992600"/>
                <a:gd name="textAreaRight" fmla="*/ 1993320 w 1992600"/>
                <a:gd name="textAreaTop" fmla="*/ 0 h 532080"/>
                <a:gd name="textAreaBottom" fmla="*/ 532800 h 532080"/>
              </a:gdLst>
              <a:ahLst/>
              <a:cxnLst/>
              <a:rect l="textAreaLeft" t="textAreaTop" r="textAreaRight" b="textAreaBottom"/>
              <a:pathLst>
                <a:path w="2657856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612517" y="0"/>
                  </a:lnTo>
                  <a:cubicBezTo>
                    <a:pt x="2637536" y="0"/>
                    <a:pt x="2657856" y="20320"/>
                    <a:pt x="2657856" y="45339"/>
                  </a:cubicBezTo>
                  <a:lnTo>
                    <a:pt x="2657856" y="665099"/>
                  </a:lnTo>
                  <a:cubicBezTo>
                    <a:pt x="2657856" y="690118"/>
                    <a:pt x="2637536" y="710438"/>
                    <a:pt x="2612517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3D4D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4" name="TextBox 8"/>
          <p:cNvSpPr/>
          <p:nvPr/>
        </p:nvSpPr>
        <p:spPr>
          <a:xfrm>
            <a:off x="1162440" y="2405520"/>
            <a:ext cx="2566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13"/>
              </a:lnSpc>
            </a:pPr>
            <a:r>
              <a:rPr lang="en-US" sz="17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CONCLUSIONES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85" name="Group 9"/>
          <p:cNvGrpSpPr/>
          <p:nvPr/>
        </p:nvGrpSpPr>
        <p:grpSpPr>
          <a:xfrm>
            <a:off x="992160" y="3248640"/>
            <a:ext cx="5244840" cy="2992680"/>
            <a:chOff x="992160" y="3248640"/>
            <a:chExt cx="5244840" cy="2992680"/>
          </a:xfrm>
        </p:grpSpPr>
        <p:sp>
          <p:nvSpPr>
            <p:cNvPr id="286" name="Freeform 10"/>
            <p:cNvSpPr/>
            <p:nvPr/>
          </p:nvSpPr>
          <p:spPr>
            <a:xfrm>
              <a:off x="992160" y="3248640"/>
              <a:ext cx="5244840" cy="299268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2992680"/>
                <a:gd name="textAreaBottom" fmla="*/ 2993400 h 2992680"/>
              </a:gdLst>
              <a:ahLst/>
              <a:cxnLst/>
              <a:rect l="textAreaLeft" t="textAreaTop" r="textAreaRight" b="textAreaBottom"/>
              <a:pathLst>
                <a:path w="6994017" h="399122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3934460"/>
                  </a:lnTo>
                  <a:cubicBezTo>
                    <a:pt x="6994017" y="3965829"/>
                    <a:pt x="6968617" y="3991229"/>
                    <a:pt x="6937248" y="3991229"/>
                  </a:cubicBezTo>
                  <a:lnTo>
                    <a:pt x="56769" y="3991229"/>
                  </a:lnTo>
                  <a:cubicBezTo>
                    <a:pt x="25400" y="3991229"/>
                    <a:pt x="0" y="3965829"/>
                    <a:pt x="0" y="3934460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7" name="TextBox 11"/>
          <p:cNvSpPr/>
          <p:nvPr/>
        </p:nvSpPr>
        <p:spPr>
          <a:xfrm>
            <a:off x="1275840" y="3522600"/>
            <a:ext cx="467784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Roboto Mono Medium"/>
                <a:ea typeface="Roboto Mono Medium"/>
              </a:rPr>
              <a:t>✅</a:t>
            </a: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 Objetivos Cumplidos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2"/>
          <p:cNvSpPr/>
          <p:nvPr/>
        </p:nvSpPr>
        <p:spPr>
          <a:xfrm>
            <a:off x="1275840" y="4502520"/>
            <a:ext cx="467784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Entorno funcional, seguro y escalable.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89" name="Group 13"/>
          <p:cNvGrpSpPr/>
          <p:nvPr/>
        </p:nvGrpSpPr>
        <p:grpSpPr>
          <a:xfrm>
            <a:off x="6521040" y="3248640"/>
            <a:ext cx="5244840" cy="2992680"/>
            <a:chOff x="6521040" y="3248640"/>
            <a:chExt cx="5244840" cy="2992680"/>
          </a:xfrm>
        </p:grpSpPr>
        <p:sp>
          <p:nvSpPr>
            <p:cNvPr id="290" name="Freeform 14"/>
            <p:cNvSpPr/>
            <p:nvPr/>
          </p:nvSpPr>
          <p:spPr>
            <a:xfrm>
              <a:off x="6521040" y="3248640"/>
              <a:ext cx="5244840" cy="299268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2992680"/>
                <a:gd name="textAreaBottom" fmla="*/ 2993400 h 2992680"/>
              </a:gdLst>
              <a:ahLst/>
              <a:cxnLst/>
              <a:rect l="textAreaLeft" t="textAreaTop" r="textAreaRight" b="textAreaBottom"/>
              <a:pathLst>
                <a:path w="6994017" h="399122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3934460"/>
                  </a:lnTo>
                  <a:cubicBezTo>
                    <a:pt x="6994017" y="3965829"/>
                    <a:pt x="6968617" y="3991229"/>
                    <a:pt x="6937248" y="3991229"/>
                  </a:cubicBezTo>
                  <a:lnTo>
                    <a:pt x="56769" y="3991229"/>
                  </a:lnTo>
                  <a:cubicBezTo>
                    <a:pt x="25400" y="3991229"/>
                    <a:pt x="0" y="3965829"/>
                    <a:pt x="0" y="3934460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TextBox 15"/>
          <p:cNvSpPr/>
          <p:nvPr/>
        </p:nvSpPr>
        <p:spPr>
          <a:xfrm>
            <a:off x="6804720" y="3522600"/>
            <a:ext cx="3841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Roboto Mono Medium"/>
                <a:ea typeface="Roboto Mono Medium"/>
              </a:rPr>
              <a:t>🐧</a:t>
            </a: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 Software Libre 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6"/>
          <p:cNvSpPr/>
          <p:nvPr/>
        </p:nvSpPr>
        <p:spPr>
          <a:xfrm>
            <a:off x="6804720" y="4059360"/>
            <a:ext cx="467784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El Open Source es una alternativa real y viable para PYMEs.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3" name="Group 17"/>
          <p:cNvGrpSpPr/>
          <p:nvPr/>
        </p:nvGrpSpPr>
        <p:grpSpPr>
          <a:xfrm>
            <a:off x="12050280" y="3248640"/>
            <a:ext cx="5244840" cy="2992680"/>
            <a:chOff x="12050280" y="3248640"/>
            <a:chExt cx="5244840" cy="2992680"/>
          </a:xfrm>
        </p:grpSpPr>
        <p:sp>
          <p:nvSpPr>
            <p:cNvPr id="294" name="Freeform 18"/>
            <p:cNvSpPr/>
            <p:nvPr/>
          </p:nvSpPr>
          <p:spPr>
            <a:xfrm>
              <a:off x="12050280" y="3248640"/>
              <a:ext cx="5244840" cy="2992680"/>
            </a:xfrm>
            <a:custGeom>
              <a:avLst/>
              <a:gdLst>
                <a:gd name="textAreaLeft" fmla="*/ 0 w 5244840"/>
                <a:gd name="textAreaRight" fmla="*/ 5245560 w 5244840"/>
                <a:gd name="textAreaTop" fmla="*/ 0 h 2992680"/>
                <a:gd name="textAreaBottom" fmla="*/ 2993400 h 2992680"/>
              </a:gdLst>
              <a:ahLst/>
              <a:cxnLst/>
              <a:rect l="textAreaLeft" t="textAreaTop" r="textAreaRight" b="textAreaBottom"/>
              <a:pathLst>
                <a:path w="6994017" h="399122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3934460"/>
                  </a:lnTo>
                  <a:cubicBezTo>
                    <a:pt x="6994017" y="3965829"/>
                    <a:pt x="6968617" y="3991229"/>
                    <a:pt x="6937248" y="3991229"/>
                  </a:cubicBezTo>
                  <a:lnTo>
                    <a:pt x="56769" y="3991229"/>
                  </a:lnTo>
                  <a:cubicBezTo>
                    <a:pt x="25400" y="3991229"/>
                    <a:pt x="0" y="3965829"/>
                    <a:pt x="0" y="3934460"/>
                  </a:cubicBez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TextBox 19"/>
          <p:cNvSpPr/>
          <p:nvPr/>
        </p:nvSpPr>
        <p:spPr>
          <a:xfrm>
            <a:off x="12333600" y="3522600"/>
            <a:ext cx="467784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0"/>
              </a:lnSpc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Roboto Mono Medium"/>
                <a:ea typeface="Roboto Mono Medium"/>
              </a:rPr>
              <a:t>🛠</a:t>
            </a:r>
            <a:r>
              <a:rPr lang="en-US" sz="2700" b="1" u="none" strike="noStrike">
                <a:solidFill>
                  <a:srgbClr val="E5E0DF"/>
                </a:solidFill>
                <a:effectLst/>
                <a:uFillTx/>
                <a:latin typeface="Roboto Mono Medium"/>
                <a:ea typeface="Roboto Mono Medium"/>
              </a:rPr>
              <a:t> Preparación Técnica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0"/>
          <p:cNvSpPr/>
          <p:nvPr/>
        </p:nvSpPr>
        <p:spPr>
          <a:xfrm>
            <a:off x="12333600" y="4502520"/>
            <a:ext cx="4677840" cy="14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12"/>
              </a:lnSpc>
            </a:pPr>
            <a:r>
              <a:rPr lang="en-US" sz="2200" b="0" u="none" strike="noStrike">
                <a:solidFill>
                  <a:srgbClr val="E5E0DF"/>
                </a:solidFill>
                <a:effectLst/>
                <a:uFillTx/>
                <a:latin typeface="Roboto"/>
                <a:ea typeface="Roboto"/>
              </a:rPr>
              <a:t>Competencias adquiridas aplicables directamente a entornos de producción reales.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1"/>
          <p:cNvSpPr/>
          <p:nvPr/>
        </p:nvSpPr>
        <p:spPr>
          <a:xfrm>
            <a:off x="992160" y="6619680"/>
            <a:ext cx="1441368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9609"/>
              </a:lnSpc>
            </a:pPr>
            <a:r>
              <a:rPr lang="en-US" sz="7700" b="1" u="none" strike="noStrike">
                <a:solidFill>
                  <a:srgbClr val="DCFF50"/>
                </a:solidFill>
                <a:effectLst/>
                <a:uFillTx/>
                <a:latin typeface="Roboto Mono Medium"/>
                <a:ea typeface="Roboto Mono Medium"/>
              </a:rPr>
              <a:t>Gracias por su atención</a:t>
            </a:r>
            <a:endParaRPr lang="es-ES" sz="7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roup 2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299" name="Freeform 3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0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0" name="Group 4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301" name="Freeform 5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2" name="Group 6"/>
          <p:cNvGrpSpPr/>
          <p:nvPr/>
        </p:nvGrpSpPr>
        <p:grpSpPr>
          <a:xfrm>
            <a:off x="16058520" y="9689040"/>
            <a:ext cx="2143080" cy="511200"/>
            <a:chOff x="16058520" y="9689040"/>
            <a:chExt cx="2143080" cy="511200"/>
          </a:xfrm>
        </p:grpSpPr>
        <p:sp>
          <p:nvSpPr>
            <p:cNvPr id="303" name="Freeform 7" descr="preencoded.png">
              <a:hlinkClick r:id="rId1"/>
            </p:cNvPr>
            <p:cNvSpPr/>
            <p:nvPr/>
          </p:nvSpPr>
          <p:spPr>
            <a:xfrm>
              <a:off x="16058520" y="9689040"/>
              <a:ext cx="2143080" cy="511200"/>
            </a:xfrm>
            <a:custGeom>
              <a:avLst/>
              <a:gdLst>
                <a:gd name="textAreaLeft" fmla="*/ 0 w 2143080"/>
                <a:gd name="textAreaRight" fmla="*/ 2143800 w 2143080"/>
                <a:gd name="textAreaTop" fmla="*/ 0 h 511200"/>
                <a:gd name="textAreaBottom" fmla="*/ 511920 h 511200"/>
              </a:gdLst>
              <a:ahLst/>
              <a:cxnLst/>
              <a:rect l="textAreaLeft" t="textAreaTop" r="textAreaRight" b="textAreaBottom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4" name="Group 8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305" name="Freeform 9" descr="preencoded.png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6" name="Group 10"/>
          <p:cNvGrpSpPr/>
          <p:nvPr/>
        </p:nvGrpSpPr>
        <p:grpSpPr>
          <a:xfrm>
            <a:off x="0" y="0"/>
            <a:ext cx="18287280" cy="10286280"/>
            <a:chOff x="0" y="0"/>
            <a:chExt cx="18287280" cy="10286280"/>
          </a:xfrm>
        </p:grpSpPr>
        <p:sp>
          <p:nvSpPr>
            <p:cNvPr id="307" name="Freeform 11"/>
            <p:cNvSpPr/>
            <p:nvPr/>
          </p:nvSpPr>
          <p:spPr>
            <a:xfrm>
              <a:off x="0" y="0"/>
              <a:ext cx="18287280" cy="10286280"/>
            </a:xfrm>
            <a:custGeom>
              <a:avLst/>
              <a:gdLst>
                <a:gd name="textAreaLeft" fmla="*/ 0 w 18287280"/>
                <a:gd name="textAreaRight" fmla="*/ 18288000 w 18287280"/>
                <a:gd name="textAreaTop" fmla="*/ 0 h 10286280"/>
                <a:gd name="textAreaBottom" fmla="*/ 10287000 h 1028628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12121">
                <a:alpha val="6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8" name="TextBox 12"/>
          <p:cNvSpPr/>
          <p:nvPr/>
        </p:nvSpPr>
        <p:spPr>
          <a:xfrm>
            <a:off x="534960" y="3738240"/>
            <a:ext cx="16760160" cy="273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0840"/>
              </a:lnSpc>
            </a:pPr>
            <a:r>
              <a:rPr lang="en-US" sz="16700" b="1" u="none" strike="noStrike">
                <a:solidFill>
                  <a:srgbClr val="FFFFFF"/>
                </a:solidFill>
                <a:effectLst/>
                <a:uFillTx/>
                <a:latin typeface="Roboto Mono Medium"/>
                <a:ea typeface="Roboto Mono Medium"/>
              </a:rPr>
              <a:t>FIN</a:t>
            </a:r>
            <a:endParaRPr lang="es-ES" sz="16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DAHLbRwDbaY</dc:identifier>
  <dc:language>es-ES</dc:language>
  <cp:lastModifiedBy/>
  <dcterms:modified xsi:type="dcterms:W3CDTF">2026-06-08T13:21:10Z</dcterms:modified>
  <cp:revision>4</cp:revision>
  <dc:subject/>
  <dc:title>Implementacion-de-Infraestructura-Segura-y-Nube-Hibrida.pptx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